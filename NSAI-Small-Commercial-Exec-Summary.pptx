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62" r:id="rId13"/>
    <p:sldId id="259" r:id="rId10"/>
    <p:sldId id="260" r:id="rId11"/>
    <p:sldId id="261" r:id="rId12"/>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4.xml"/><Relationship Id="rId14" Type="http://schemas.openxmlformats.org/officeDocument/2006/relationships/notesMaster" Target="notesMasters/notesMaster1.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show the demo:</a:t>
            </a:r>
          </a:p>
          <a:p>
            <a:r>
              <a:t>• OPTION 1 (left): the embedded video plays in-slide on click — no internet or add-ins. Safe default.</a:t>
            </a:r>
          </a:p>
          <a:p>
            <a:r>
              <a:t>• OPTION 2 (right): a live, interactive view. After the site is published to the main branch, insert the Microsoft ‘Web Viewer’ add-in (Insert &gt; Get Add-ins &gt; search ‘Web Viewer’ &gt; Add), paste https://nsai4insurance.com/pc-demo-widget.html, and resize it to fill the box. You can then click ‘Run Both Models’ inside the slide.</a:t>
            </a:r>
          </a:p>
          <a:p>
            <a:r>
              <a:t>The ‘Open the live demo in a browser’ button works regardless — it just opens the page in your browser.</a:t>
            </a:r>
          </a:p>
          <a:p>
            <a:r>
              <a:t>Before publishing, you can test the live view now via htmlpreview.github.io pointed at the branch copy of pc-demo-widget.html.</a:t>
            </a:r>
          </a:p>
          <a:p>
            <a:r>
              <a:t>Once you decide, delete whichever option you don’t want.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png"/><Relationship Id="rId5" Type="http://schemas.openxmlformats.org/officeDocument/2006/relationships/hyperlink" Target="https://nsai4insurance.com/pc-demo-widget.html" TargetMode="External"/><Relationship Id="rId6"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Rectangle 1"/>
          <p:cNvSpPr/>
          <p:nvPr/>
        </p:nvSpPr>
        <p:spPr>
          <a:xfrm>
            <a:off x="0" y="2331720"/>
            <a:ext cx="12191695" cy="38100"/>
          </a:xfrm>
          <a:prstGeom prst="rect">
            <a:avLst/>
          </a:prstGeom>
          <a:solidFill>
            <a:srgbClr val="B84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304" y="2331720"/>
            <a:ext cx="6096304" cy="38100"/>
          </a:xfrm>
          <a:prstGeom prst="rect">
            <a:avLst/>
          </a:prstGeom>
          <a:solidFill>
            <a:srgbClr val="3F5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77240"/>
            <a:ext cx="10058400" cy="27432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C8A951"/>
                </a:solidFill>
                <a:latin typeface="Calibri"/>
              </a:rPr>
              <a:t>NSAI FOR INSURANCE  ·  PROPERTY &amp; CASUALTY  ·  SMALL COMMERCIAL DIRECT</a:t>
            </a:r>
          </a:p>
        </p:txBody>
      </p:sp>
      <p:sp>
        <p:nvSpPr>
          <p:cNvPr id="5" name="TextBox 4"/>
          <p:cNvSpPr txBox="1"/>
          <p:nvPr/>
        </p:nvSpPr>
        <p:spPr>
          <a:xfrm>
            <a:off x="822960" y="1234440"/>
            <a:ext cx="10515600" cy="1463040"/>
          </a:xfrm>
          <a:prstGeom prst="rect">
            <a:avLst/>
          </a:prstGeom>
          <a:noFill/>
        </p:spPr>
        <p:txBody>
          <a:bodyPr wrap="square" anchor="t" lIns="0" rIns="0" tIns="0" bIns="0">
            <a:spAutoFit/>
          </a:bodyPr>
          <a:lstStyle/>
          <a:p>
            <a:pPr algn="l">
              <a:lnSpc>
                <a:spcPct val="100000"/>
              </a:lnSpc>
              <a:spcBef>
                <a:spcPts val="0"/>
              </a:spcBef>
              <a:spcAft>
                <a:spcPts val="600"/>
              </a:spcAft>
            </a:pPr>
            <a:r>
              <a:rPr sz="4400" b="0" i="0">
                <a:solidFill>
                  <a:srgbClr val="F4EFE6"/>
                </a:solidFill>
                <a:latin typeface="Georgia"/>
              </a:rPr>
              <a:t>Small commercial, </a:t>
            </a:r>
            <a:r>
              <a:rPr sz="4400" b="0" i="1">
                <a:solidFill>
                  <a:srgbClr val="C8A951"/>
                </a:solidFill>
                <a:latin typeface="Georgia"/>
              </a:rPr>
              <a:t>fully reasoned.</a:t>
            </a:r>
          </a:p>
        </p:txBody>
      </p:sp>
      <p:sp>
        <p:nvSpPr>
          <p:cNvPr id="6" name="TextBox 5"/>
          <p:cNvSpPr txBox="1"/>
          <p:nvPr/>
        </p:nvSpPr>
        <p:spPr>
          <a:xfrm>
            <a:off x="822960" y="2697480"/>
            <a:ext cx="10515600" cy="1280160"/>
          </a:xfrm>
          <a:prstGeom prst="rect">
            <a:avLst/>
          </a:prstGeom>
          <a:noFill/>
        </p:spPr>
        <p:txBody>
          <a:bodyPr wrap="square" anchor="t" lIns="0" rIns="0" tIns="0" bIns="0">
            <a:spAutoFit/>
          </a:bodyPr>
          <a:lstStyle/>
          <a:p>
            <a:pPr algn="l">
              <a:lnSpc>
                <a:spcPct val="115000"/>
              </a:lnSpc>
              <a:spcBef>
                <a:spcPts val="0"/>
              </a:spcBef>
              <a:spcAft>
                <a:spcPts val="1000"/>
              </a:spcAft>
            </a:pPr>
            <a:r>
              <a:rPr sz="2200" b="0" i="0">
                <a:solidFill>
                  <a:srgbClr val="F4EFE6"/>
                </a:solidFill>
                <a:latin typeface="Calibri"/>
              </a:rPr>
              <a:t>The LLM is the customer-facing agent. NSAI is the underwriting brain.</a:t>
            </a:r>
          </a:p>
          <a:p>
            <a:pPr algn="l">
              <a:lnSpc>
                <a:spcPct val="115000"/>
              </a:lnSpc>
              <a:spcBef>
                <a:spcPts val="0"/>
              </a:spcBef>
              <a:spcAft>
                <a:spcPts val="1000"/>
              </a:spcAft>
            </a:pPr>
            <a:r>
              <a:rPr sz="1600" b="0" i="0">
                <a:solidFill>
                  <a:srgbClr val="C9C2B5"/>
                </a:solidFill>
                <a:latin typeface="Calibri"/>
              </a:rPr>
              <a:t>A chatbot makes direct small commercial feel simple. The underwriting core makes sure simple doesn’t become misclassified, underpriced, or under-covered business.</a:t>
            </a:r>
          </a:p>
        </p:txBody>
      </p:sp>
      <p:sp>
        <p:nvSpPr>
          <p:cNvPr id="7" name="TextBox 6"/>
          <p:cNvSpPr txBox="1"/>
          <p:nvPr/>
        </p:nvSpPr>
        <p:spPr>
          <a:xfrm>
            <a:off x="822960" y="6126480"/>
            <a:ext cx="10515600" cy="457200"/>
          </a:xfrm>
          <a:prstGeom prst="rect">
            <a:avLst/>
          </a:prstGeom>
          <a:noFill/>
        </p:spPr>
        <p:txBody>
          <a:bodyPr wrap="square" anchor="t" lIns="0" rIns="0" tIns="0" bIns="0">
            <a:spAutoFit/>
          </a:bodyPr>
          <a:lstStyle/>
          <a:p>
            <a:pPr algn="l">
              <a:lnSpc>
                <a:spcPct val="100000"/>
              </a:lnSpc>
              <a:spcBef>
                <a:spcPts val="0"/>
              </a:spcBef>
              <a:spcAft>
                <a:spcPts val="600"/>
              </a:spcAft>
            </a:pPr>
            <a:r>
              <a:rPr sz="1000" b="0" i="1">
                <a:solidFill>
                  <a:srgbClr val="6B6458"/>
                </a:solidFill>
                <a:latin typeface="Calibri"/>
              </a:rPr>
              <a:t>Illustrative executive walkthrough · Delgado Home Services and BrightSure Direct are fictional · Figures hypothetical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TextBox 1"/>
          <p:cNvSpPr txBox="1"/>
          <p:nvPr/>
        </p:nvSpPr>
        <p:spPr>
          <a:xfrm>
            <a:off x="822960" y="548640"/>
            <a:ext cx="10058400" cy="27432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B8442E"/>
                </a:solidFill>
                <a:latin typeface="Calibri"/>
              </a:rPr>
              <a:t>THE SCENARIO  ·  DIRECT-TO-CONSUMER QUOTE REQUEST</a:t>
            </a:r>
          </a:p>
        </p:txBody>
      </p:sp>
      <p:sp>
        <p:nvSpPr>
          <p:cNvPr id="3" name="TextBox 2"/>
          <p:cNvSpPr txBox="1"/>
          <p:nvPr/>
        </p:nvSpPr>
        <p:spPr>
          <a:xfrm>
            <a:off x="822960" y="914400"/>
            <a:ext cx="10515600" cy="822960"/>
          </a:xfrm>
          <a:prstGeom prst="rect">
            <a:avLst/>
          </a:prstGeom>
          <a:noFill/>
        </p:spPr>
        <p:txBody>
          <a:bodyPr wrap="square" anchor="t" lIns="0" rIns="0" tIns="0" bIns="0">
            <a:spAutoFit/>
          </a:bodyPr>
          <a:lstStyle/>
          <a:p>
            <a:pPr algn="l">
              <a:lnSpc>
                <a:spcPct val="100000"/>
              </a:lnSpc>
              <a:spcBef>
                <a:spcPts val="0"/>
              </a:spcBef>
              <a:spcAft>
                <a:spcPts val="600"/>
              </a:spcAft>
            </a:pPr>
            <a:r>
              <a:rPr sz="3000" b="0" i="0">
                <a:solidFill>
                  <a:srgbClr val="0F1419"/>
                </a:solidFill>
                <a:latin typeface="Georgia"/>
              </a:rPr>
              <a:t>A small business owner describes their work in plain English.</a:t>
            </a:r>
          </a:p>
        </p:txBody>
      </p:sp>
      <p:sp>
        <p:nvSpPr>
          <p:cNvPr id="4" name="Rectangle 3"/>
          <p:cNvSpPr/>
          <p:nvPr/>
        </p:nvSpPr>
        <p:spPr>
          <a:xfrm>
            <a:off x="822960" y="1828800"/>
            <a:ext cx="6400800" cy="4206240"/>
          </a:xfrm>
          <a:prstGeom prst="rect">
            <a:avLst/>
          </a:prstGeom>
          <a:solidFill>
            <a:srgbClr val="FFFFFF"/>
          </a:solidFill>
          <a:ln w="12700">
            <a:solidFill>
              <a:srgbClr val="ECE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828800"/>
            <a:ext cx="50800" cy="4206240"/>
          </a:xfrm>
          <a:prstGeom prst="rect">
            <a:avLst/>
          </a:prstGeom>
          <a:solidFill>
            <a:srgbClr val="B84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57400"/>
            <a:ext cx="5852160" cy="27432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6B6458"/>
                </a:solidFill>
                <a:latin typeface="Calibri"/>
              </a:rPr>
              <a:t>CUSTOMER MESSAGE · VIA WEB FORM</a:t>
            </a:r>
          </a:p>
        </p:txBody>
      </p:sp>
      <p:sp>
        <p:nvSpPr>
          <p:cNvPr id="7" name="TextBox 6"/>
          <p:cNvSpPr txBox="1"/>
          <p:nvPr/>
        </p:nvSpPr>
        <p:spPr>
          <a:xfrm>
            <a:off x="1097280" y="2423160"/>
            <a:ext cx="5897880" cy="3474720"/>
          </a:xfrm>
          <a:prstGeom prst="rect">
            <a:avLst/>
          </a:prstGeom>
          <a:noFill/>
        </p:spPr>
        <p:txBody>
          <a:bodyPr wrap="square" anchor="t" lIns="0" rIns="0" tIns="0" bIns="0">
            <a:spAutoFit/>
          </a:bodyPr>
          <a:lstStyle/>
          <a:p>
            <a:pPr algn="l">
              <a:lnSpc>
                <a:spcPct val="125000"/>
              </a:lnSpc>
              <a:spcBef>
                <a:spcPts val="0"/>
              </a:spcBef>
              <a:spcAft>
                <a:spcPts val="600"/>
              </a:spcAft>
            </a:pPr>
            <a:r>
              <a:rPr sz="1600" b="0" i="1">
                <a:solidFill>
                  <a:srgbClr val="2A3340"/>
                </a:solidFill>
                <a:latin typeface="Georgia"/>
              </a:rPr>
              <a:t>“Hi, looking for a quote. I run a handyman business in the Phoenix metro — been at it about six years. It’s me and one helper, and we mostly do small jobs for landlords and property managers. Bathroom fixes, kitchen stuff, water heaters when they go out, drywall patching. Sometimes we’ll patch leaks or replace a few shingles when a tenant calls. We do maybe $180K a year. Need general liability and probably property coverage for my tools and truck stuff.”</a:t>
            </a:r>
          </a:p>
        </p:txBody>
      </p:sp>
      <p:sp>
        <p:nvSpPr>
          <p:cNvPr id="8" name="Rectangle 7"/>
          <p:cNvSpPr/>
          <p:nvPr/>
        </p:nvSpPr>
        <p:spPr>
          <a:xfrm>
            <a:off x="7498079" y="1828800"/>
            <a:ext cx="3867912" cy="4206240"/>
          </a:xfrm>
          <a:prstGeom prst="rect">
            <a:avLst/>
          </a:prstGeom>
          <a:solidFill>
            <a:srgbClr val="ECE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0" y="2057400"/>
            <a:ext cx="3383280" cy="27432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6B6458"/>
                </a:solidFill>
                <a:latin typeface="Calibri"/>
              </a:rPr>
              <a:t>ON FILE</a:t>
            </a:r>
          </a:p>
        </p:txBody>
      </p:sp>
      <p:sp>
        <p:nvSpPr>
          <p:cNvPr id="10" name="TextBox 9"/>
          <p:cNvSpPr txBox="1"/>
          <p:nvPr/>
        </p:nvSpPr>
        <p:spPr>
          <a:xfrm>
            <a:off x="7772400" y="2423160"/>
            <a:ext cx="3337560" cy="3474720"/>
          </a:xfrm>
          <a:prstGeom prst="rect">
            <a:avLst/>
          </a:prstGeom>
          <a:noFill/>
        </p:spPr>
        <p:txBody>
          <a:bodyPr wrap="square" anchor="t" lIns="0" rIns="0" tIns="0" bIns="0">
            <a:spAutoFit/>
          </a:bodyPr>
          <a:lstStyle/>
          <a:p>
            <a:pPr algn="l">
              <a:lnSpc>
                <a:spcPct val="100000"/>
              </a:lnSpc>
              <a:spcBef>
                <a:spcPts val="0"/>
              </a:spcBef>
              <a:spcAft>
                <a:spcPts val="500"/>
              </a:spcAft>
            </a:pPr>
            <a:r>
              <a:rPr sz="1000" b="1" i="0">
                <a:solidFill>
                  <a:srgbClr val="6B6458"/>
                </a:solidFill>
                <a:latin typeface="Calibri"/>
              </a:rPr>
              <a:t>BUSINESS   </a:t>
            </a:r>
          </a:p>
          <a:p>
            <a:pPr algn="l">
              <a:lnSpc>
                <a:spcPct val="100000"/>
              </a:lnSpc>
              <a:spcBef>
                <a:spcPts val="0"/>
              </a:spcBef>
              <a:spcAft>
                <a:spcPts val="500"/>
              </a:spcAft>
            </a:pPr>
            <a:r>
              <a:rPr sz="1400" b="0" i="0">
                <a:solidFill>
                  <a:srgbClr val="0F1419"/>
                </a:solidFill>
                <a:latin typeface="Calibri"/>
              </a:rPr>
              <a:t>Delgado Home Services</a:t>
            </a:r>
          </a:p>
          <a:p>
            <a:pPr algn="l">
              <a:lnSpc>
                <a:spcPct val="100000"/>
              </a:lnSpc>
              <a:spcBef>
                <a:spcPts val="0"/>
              </a:spcBef>
              <a:spcAft>
                <a:spcPts val="500"/>
              </a:spcAft>
            </a:pPr>
            <a:r>
              <a:rPr sz="1000" b="1" i="0">
                <a:solidFill>
                  <a:srgbClr val="6B6458"/>
                </a:solidFill>
                <a:latin typeface="Calibri"/>
              </a:rPr>
              <a:t>OWNER   </a:t>
            </a:r>
          </a:p>
          <a:p>
            <a:pPr algn="l">
              <a:lnSpc>
                <a:spcPct val="100000"/>
              </a:lnSpc>
              <a:spcBef>
                <a:spcPts val="0"/>
              </a:spcBef>
              <a:spcAft>
                <a:spcPts val="500"/>
              </a:spcAft>
            </a:pPr>
            <a:r>
              <a:rPr sz="1400" b="0" i="0">
                <a:solidFill>
                  <a:srgbClr val="0F1419"/>
                </a:solidFill>
                <a:latin typeface="Calibri"/>
              </a:rPr>
              <a:t>Marcos Delgado (sole proprietor)</a:t>
            </a:r>
          </a:p>
          <a:p>
            <a:pPr algn="l">
              <a:lnSpc>
                <a:spcPct val="100000"/>
              </a:lnSpc>
              <a:spcBef>
                <a:spcPts val="0"/>
              </a:spcBef>
              <a:spcAft>
                <a:spcPts val="500"/>
              </a:spcAft>
            </a:pPr>
            <a:r>
              <a:rPr sz="1000" b="1" i="0">
                <a:solidFill>
                  <a:srgbClr val="6B6458"/>
                </a:solidFill>
                <a:latin typeface="Calibri"/>
              </a:rPr>
              <a:t>COVERAGE REQUESTED   </a:t>
            </a:r>
          </a:p>
          <a:p>
            <a:pPr algn="l">
              <a:lnSpc>
                <a:spcPct val="100000"/>
              </a:lnSpc>
              <a:spcBef>
                <a:spcPts val="0"/>
              </a:spcBef>
              <a:spcAft>
                <a:spcPts val="500"/>
              </a:spcAft>
            </a:pPr>
            <a:r>
              <a:rPr sz="1400" b="0" i="0">
                <a:solidFill>
                  <a:srgbClr val="0F1419"/>
                </a:solidFill>
                <a:latin typeface="Calibri"/>
              </a:rPr>
              <a:t>General Liability + Tools &amp; Equipment</a:t>
            </a:r>
          </a:p>
          <a:p>
            <a:pPr algn="l">
              <a:lnSpc>
                <a:spcPct val="100000"/>
              </a:lnSpc>
              <a:spcBef>
                <a:spcPts val="0"/>
              </a:spcBef>
              <a:spcAft>
                <a:spcPts val="500"/>
              </a:spcAft>
            </a:pPr>
            <a:r>
              <a:rPr sz="1000" b="1" i="0">
                <a:solidFill>
                  <a:srgbClr val="6B6458"/>
                </a:solidFill>
                <a:latin typeface="Calibri"/>
              </a:rPr>
              <a:t>YEARS / EMPLOYEES   </a:t>
            </a:r>
          </a:p>
          <a:p>
            <a:pPr algn="l">
              <a:lnSpc>
                <a:spcPct val="100000"/>
              </a:lnSpc>
              <a:spcBef>
                <a:spcPts val="0"/>
              </a:spcBef>
              <a:spcAft>
                <a:spcPts val="500"/>
              </a:spcAft>
            </a:pPr>
            <a:r>
              <a:rPr sz="1400" b="0" i="0">
                <a:solidFill>
                  <a:srgbClr val="0F1419"/>
                </a:solidFill>
                <a:latin typeface="Calibri"/>
              </a:rPr>
              <a:t>6 years · 2 (owner + 1 helper)</a:t>
            </a:r>
          </a:p>
          <a:p>
            <a:pPr algn="l">
              <a:lnSpc>
                <a:spcPct val="100000"/>
              </a:lnSpc>
              <a:spcBef>
                <a:spcPts val="0"/>
              </a:spcBef>
              <a:spcAft>
                <a:spcPts val="500"/>
              </a:spcAft>
            </a:pPr>
            <a:r>
              <a:rPr sz="1000" b="1" i="0">
                <a:solidFill>
                  <a:srgbClr val="6B6458"/>
                </a:solidFill>
                <a:latin typeface="Calibri"/>
              </a:rPr>
              <a:t>ANNUAL REVENUE   </a:t>
            </a:r>
          </a:p>
          <a:p>
            <a:pPr algn="l">
              <a:lnSpc>
                <a:spcPct val="100000"/>
              </a:lnSpc>
              <a:spcBef>
                <a:spcPts val="0"/>
              </a:spcBef>
              <a:spcAft>
                <a:spcPts val="500"/>
              </a:spcAft>
            </a:pPr>
            <a:r>
              <a:rPr sz="1400" b="0" i="0">
                <a:solidFill>
                  <a:srgbClr val="0F1419"/>
                </a:solidFill>
                <a:latin typeface="Calibri"/>
              </a:rPr>
              <a:t>$180,000 (self-reported)</a:t>
            </a:r>
          </a:p>
          <a:p>
            <a:pPr algn="l">
              <a:lnSpc>
                <a:spcPct val="100000"/>
              </a:lnSpc>
              <a:spcBef>
                <a:spcPts val="0"/>
              </a:spcBef>
              <a:spcAft>
                <a:spcPts val="500"/>
              </a:spcAft>
            </a:pPr>
            <a:r>
              <a:rPr sz="1000" b="1" i="0">
                <a:solidFill>
                  <a:srgbClr val="6B6458"/>
                </a:solidFill>
                <a:latin typeface="Calibri"/>
              </a:rPr>
              <a:t>CHANNEL   </a:t>
            </a:r>
          </a:p>
          <a:p>
            <a:pPr algn="l">
              <a:lnSpc>
                <a:spcPct val="100000"/>
              </a:lnSpc>
              <a:spcBef>
                <a:spcPts val="0"/>
              </a:spcBef>
              <a:spcAft>
                <a:spcPts val="500"/>
              </a:spcAft>
            </a:pPr>
            <a:r>
              <a:rPr sz="1400" b="0" i="0">
                <a:solidFill>
                  <a:srgbClr val="0F1419"/>
                </a:solidFill>
                <a:latin typeface="Calibri"/>
              </a:rPr>
              <a:t>Instant quote-and-bind, DTC web</a:t>
            </a:r>
          </a:p>
        </p:txBody>
      </p:sp>
      <p:sp>
        <p:nvSpPr>
          <p:cNvPr id="11" name="TextBox 10"/>
          <p:cNvSpPr txBox="1"/>
          <p:nvPr/>
        </p:nvSpPr>
        <p:spPr>
          <a:xfrm>
            <a:off x="822960" y="6172200"/>
            <a:ext cx="105156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0" i="1">
                <a:solidFill>
                  <a:srgbClr val="6B6458"/>
                </a:solidFill>
                <a:latin typeface="Calibri"/>
              </a:rPr>
              <a:t>“Handyman” is a self-classification. The words also describe plumbing and roof-surface work — different exposure classes with different appetite.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822960" y="411480"/>
            <a:ext cx="10515600" cy="27432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C8A951"/>
                </a:solidFill>
                <a:latin typeface="Calibri"/>
              </a:rPr>
              <a:t>THE LIVE WALKTHROUGH  ·  SAME SUBMISSION, RUN THROUGH BOTH SYSTEMS</a:t>
            </a:r>
          </a:p>
        </p:txBody>
      </p:sp>
      <p:sp>
        <p:nvSpPr>
          <p:cNvPr id="3" name="TextBox 2"/>
          <p:cNvSpPr txBox="1"/>
          <p:nvPr/>
        </p:nvSpPr>
        <p:spPr>
          <a:xfrm>
            <a:off x="822960" y="749808"/>
            <a:ext cx="10515600" cy="548640"/>
          </a:xfrm>
          <a:prstGeom prst="rect">
            <a:avLst/>
          </a:prstGeom>
          <a:noFill/>
        </p:spPr>
        <p:txBody>
          <a:bodyPr wrap="square" anchor="t" lIns="0" rIns="0" tIns="0" bIns="0">
            <a:spAutoFit/>
          </a:bodyPr>
          <a:lstStyle/>
          <a:p>
            <a:pPr algn="l">
              <a:lnSpc>
                <a:spcPct val="100000"/>
              </a:lnSpc>
              <a:spcBef>
                <a:spcPts val="0"/>
              </a:spcBef>
              <a:spcAft>
                <a:spcPts val="600"/>
              </a:spcAft>
            </a:pPr>
            <a:r>
              <a:rPr sz="2400" b="0" i="0">
                <a:solidFill>
                  <a:srgbClr val="F4EFE6"/>
                </a:solidFill>
                <a:latin typeface="Georgia"/>
              </a:rPr>
              <a:t>One fluent answer vs. a decomposed, priced, explained decision.</a:t>
            </a:r>
          </a:p>
        </p:txBody>
      </p:sp>
      <p:pic>
        <p:nvPicPr>
          <p:cNvPr id="4" name="Picture 3" descr="demo_moneyshot.png"/>
          <p:cNvPicPr>
            <a:picLocks noChangeAspect="1"/>
          </p:cNvPicPr>
          <p:nvPr/>
        </p:nvPicPr>
        <p:blipFill>
          <a:blip r:embed="rId2"/>
          <a:stretch>
            <a:fillRect/>
          </a:stretch>
        </p:blipFill>
        <p:spPr>
          <a:xfrm>
            <a:off x="2601533" y="1417320"/>
            <a:ext cx="6988628" cy="48920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640080" y="365760"/>
            <a:ext cx="10972800" cy="274320"/>
          </a:xfrm>
          <a:prstGeom prst="rect">
            <a:avLst/>
          </a:prstGeom>
          <a:noFill/>
        </p:spPr>
        <p:txBody>
          <a:bodyPr wrap="square" anchor="t" lIns="25400" rIns="25400" tIns="25400" bIns="25400">
            <a:spAutoFit/>
          </a:bodyPr>
          <a:lstStyle/>
          <a:p>
            <a:pPr algn="l">
              <a:lnSpc>
                <a:spcPct val="105000"/>
              </a:lnSpc>
              <a:spcBef>
                <a:spcPts val="0"/>
              </a:spcBef>
              <a:spcAft>
                <a:spcPts val="500"/>
              </a:spcAft>
            </a:pPr>
            <a:r>
              <a:rPr sz="1100" b="1" i="0">
                <a:solidFill>
                  <a:srgbClr val="C8A951"/>
                </a:solidFill>
                <a:latin typeface="Calibri"/>
              </a:rPr>
              <a:t>THE LIVE DEMO  ·  TWO WAYS TO PRESENT IT — PICK ONE ONCE THE SITE IS PUBLISHED</a:t>
            </a:r>
          </a:p>
        </p:txBody>
      </p:sp>
      <p:sp>
        <p:nvSpPr>
          <p:cNvPr id="3" name="TextBox 2"/>
          <p:cNvSpPr txBox="1"/>
          <p:nvPr/>
        </p:nvSpPr>
        <p:spPr>
          <a:xfrm>
            <a:off x="640080" y="676656"/>
            <a:ext cx="10972800" cy="502920"/>
          </a:xfrm>
          <a:prstGeom prst="rect">
            <a:avLst/>
          </a:prstGeom>
          <a:noFill/>
        </p:spPr>
        <p:txBody>
          <a:bodyPr wrap="square" anchor="t" lIns="25400" rIns="25400" tIns="25400" bIns="25400">
            <a:spAutoFit/>
          </a:bodyPr>
          <a:lstStyle/>
          <a:p>
            <a:pPr algn="l">
              <a:lnSpc>
                <a:spcPct val="105000"/>
              </a:lnSpc>
              <a:spcBef>
                <a:spcPts val="0"/>
              </a:spcBef>
              <a:spcAft>
                <a:spcPts val="500"/>
              </a:spcAft>
            </a:pPr>
            <a:r>
              <a:rPr sz="2400" b="0" i="0">
                <a:solidFill>
                  <a:srgbClr val="F4EFE6"/>
                </a:solidFill>
                <a:latin typeface="Georgia"/>
              </a:rPr>
              <a:t>Embedded video, or a live interactive view.</a:t>
            </a:r>
          </a:p>
        </p:txBody>
      </p:sp>
      <p:sp>
        <p:nvSpPr>
          <p:cNvPr id="4" name="TextBox 3"/>
          <p:cNvSpPr txBox="1"/>
          <p:nvPr/>
        </p:nvSpPr>
        <p:spPr>
          <a:xfrm>
            <a:off x="640080" y="1417320"/>
            <a:ext cx="5486400" cy="292608"/>
          </a:xfrm>
          <a:prstGeom prst="rect">
            <a:avLst/>
          </a:prstGeom>
          <a:noFill/>
        </p:spPr>
        <p:txBody>
          <a:bodyPr wrap="square" anchor="t" lIns="25400" rIns="25400" tIns="25400" bIns="25400">
            <a:spAutoFit/>
          </a:bodyPr>
          <a:lstStyle/>
          <a:p>
            <a:pPr algn="l">
              <a:lnSpc>
                <a:spcPct val="105000"/>
              </a:lnSpc>
              <a:spcBef>
                <a:spcPts val="0"/>
              </a:spcBef>
              <a:spcAft>
                <a:spcPts val="500"/>
              </a:spcAft>
            </a:pPr>
            <a:r>
              <a:rPr sz="1200" b="1" i="0">
                <a:solidFill>
                  <a:srgbClr val="3F5E4A"/>
                </a:solidFill>
                <a:latin typeface="Calibri"/>
              </a:rPr>
              <a:t>OPTION 1 · EMBEDDED VIDEO</a:t>
            </a:r>
            <a:r>
              <a:rPr sz="1100" b="0" i="1">
                <a:solidFill>
                  <a:srgbClr val="C9C2B5"/>
                </a:solidFill>
                <a:latin typeface="Calibri"/>
              </a:rPr>
              <a:t>   plays in-slide on click · works offline</a:t>
            </a:r>
          </a:p>
        </p:txBody>
      </p:sp>
      <p:pic>
        <p:nvPicPr>
          <p:cNvPr id="5" name="NSAI-demo-run.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40080" y="1801368"/>
            <a:ext cx="5486400" cy="3437572"/>
          </a:xfrm>
          <a:prstGeom prst="rect">
            <a:avLst/>
          </a:prstGeom>
        </p:spPr>
      </p:pic>
      <p:sp>
        <p:nvSpPr>
          <p:cNvPr id="6" name="TextBox 5"/>
          <p:cNvSpPr txBox="1"/>
          <p:nvPr/>
        </p:nvSpPr>
        <p:spPr>
          <a:xfrm>
            <a:off x="640080" y="5312092"/>
            <a:ext cx="5486400" cy="548640"/>
          </a:xfrm>
          <a:prstGeom prst="rect">
            <a:avLst/>
          </a:prstGeom>
          <a:noFill/>
        </p:spPr>
        <p:txBody>
          <a:bodyPr wrap="square" anchor="t" lIns="25400" rIns="25400" tIns="25400" bIns="25400">
            <a:spAutoFit/>
          </a:bodyPr>
          <a:lstStyle/>
          <a:p>
            <a:pPr algn="l">
              <a:lnSpc>
                <a:spcPct val="110000"/>
              </a:lnSpc>
              <a:spcBef>
                <a:spcPts val="0"/>
              </a:spcBef>
              <a:spcAft>
                <a:spcPts val="500"/>
              </a:spcAft>
            </a:pPr>
            <a:r>
              <a:rPr sz="1100" b="0" i="0">
                <a:solidFill>
                  <a:srgbClr val="C9C2B5"/>
                </a:solidFill>
                <a:latin typeface="Calibri"/>
              </a:rPr>
              <a:t>No internet or add-ins needed. The 13-second run is baked into this file — good for any room.</a:t>
            </a:r>
          </a:p>
        </p:txBody>
      </p:sp>
      <p:sp>
        <p:nvSpPr>
          <p:cNvPr id="7" name="TextBox 6"/>
          <p:cNvSpPr txBox="1"/>
          <p:nvPr/>
        </p:nvSpPr>
        <p:spPr>
          <a:xfrm>
            <a:off x="6400800" y="1417320"/>
            <a:ext cx="5120640" cy="292608"/>
          </a:xfrm>
          <a:prstGeom prst="rect">
            <a:avLst/>
          </a:prstGeom>
          <a:noFill/>
        </p:spPr>
        <p:txBody>
          <a:bodyPr wrap="square" anchor="t" lIns="25400" rIns="25400" tIns="25400" bIns="25400">
            <a:spAutoFit/>
          </a:bodyPr>
          <a:lstStyle/>
          <a:p>
            <a:pPr algn="l">
              <a:lnSpc>
                <a:spcPct val="105000"/>
              </a:lnSpc>
              <a:spcBef>
                <a:spcPts val="0"/>
              </a:spcBef>
              <a:spcAft>
                <a:spcPts val="500"/>
              </a:spcAft>
            </a:pPr>
            <a:r>
              <a:rPr sz="1200" b="1" i="0">
                <a:solidFill>
                  <a:srgbClr val="B8442E"/>
                </a:solidFill>
                <a:latin typeface="Calibri"/>
              </a:rPr>
              <a:t>OPTION 2 · LIVE WEB VIEWER</a:t>
            </a:r>
            <a:r>
              <a:rPr sz="1100" b="0" i="1">
                <a:solidFill>
                  <a:srgbClr val="C9C2B5"/>
                </a:solidFill>
                <a:latin typeface="Calibri"/>
              </a:rPr>
              <a:t>   fully interactive · needs internet</a:t>
            </a:r>
          </a:p>
        </p:txBody>
      </p:sp>
      <p:sp>
        <p:nvSpPr>
          <p:cNvPr id="8" name="Rectangle 7"/>
          <p:cNvSpPr/>
          <p:nvPr/>
        </p:nvSpPr>
        <p:spPr>
          <a:xfrm>
            <a:off x="6400800" y="1801368"/>
            <a:ext cx="5120640" cy="3437572"/>
          </a:xfrm>
          <a:prstGeom prst="rect">
            <a:avLst/>
          </a:prstGeom>
          <a:solidFill>
            <a:srgbClr val="1A2027"/>
          </a:solidFill>
          <a:ln w="15875">
            <a:solidFill>
              <a:srgbClr val="C8A9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2057400"/>
            <a:ext cx="4572000" cy="2980372"/>
          </a:xfrm>
          <a:prstGeom prst="rect">
            <a:avLst/>
          </a:prstGeom>
          <a:noFill/>
        </p:spPr>
        <p:txBody>
          <a:bodyPr wrap="square" anchor="t" lIns="25400" rIns="25400" tIns="25400" bIns="25400">
            <a:spAutoFit/>
          </a:bodyPr>
          <a:lstStyle/>
          <a:p>
            <a:pPr algn="l">
              <a:lnSpc>
                <a:spcPct val="110000"/>
              </a:lnSpc>
              <a:spcBef>
                <a:spcPts val="0"/>
              </a:spcBef>
              <a:spcAft>
                <a:spcPts val="800"/>
              </a:spcAft>
            </a:pPr>
            <a:r>
              <a:rPr sz="1200" b="1" i="0">
                <a:solidFill>
                  <a:srgbClr val="C8A951"/>
                </a:solidFill>
                <a:latin typeface="Calibri"/>
              </a:rPr>
              <a:t>WEB VIEWER GOES HERE</a:t>
            </a:r>
          </a:p>
          <a:p>
            <a:pPr algn="l">
              <a:lnSpc>
                <a:spcPct val="110000"/>
              </a:lnSpc>
              <a:spcBef>
                <a:spcPts val="0"/>
              </a:spcBef>
              <a:spcAft>
                <a:spcPts val="800"/>
              </a:spcAft>
            </a:pPr>
            <a:r>
              <a:rPr sz="1300" b="0" i="0">
                <a:solidFill>
                  <a:srgbClr val="F4EFE6"/>
                </a:solidFill>
                <a:latin typeface="Calibri"/>
              </a:rPr>
              <a:t>Insert it once, in PowerPoint:</a:t>
            </a:r>
          </a:p>
          <a:p>
            <a:pPr algn="l">
              <a:lnSpc>
                <a:spcPct val="110000"/>
              </a:lnSpc>
              <a:spcBef>
                <a:spcPts val="0"/>
              </a:spcBef>
              <a:spcAft>
                <a:spcPts val="800"/>
              </a:spcAft>
            </a:pPr>
            <a:r>
              <a:rPr sz="1200" b="0" i="0">
                <a:solidFill>
                  <a:srgbClr val="C9C2B5"/>
                </a:solidFill>
                <a:latin typeface="Calibri"/>
              </a:rPr>
              <a:t>1.  Insert ▸ Get Add-ins  →  search “Web Viewer”  →  Add</a:t>
            </a:r>
          </a:p>
          <a:p>
            <a:pPr algn="l">
              <a:lnSpc>
                <a:spcPct val="110000"/>
              </a:lnSpc>
              <a:spcBef>
                <a:spcPts val="0"/>
              </a:spcBef>
              <a:spcAft>
                <a:spcPts val="800"/>
              </a:spcAft>
            </a:pPr>
            <a:r>
              <a:rPr sz="1200" b="0" i="0">
                <a:solidFill>
                  <a:srgbClr val="C9C2B5"/>
                </a:solidFill>
                <a:latin typeface="Calibri"/>
              </a:rPr>
              <a:t>2.  Paste this URL into the add-in:</a:t>
            </a:r>
          </a:p>
          <a:p>
            <a:pPr algn="l">
              <a:lnSpc>
                <a:spcPct val="110000"/>
              </a:lnSpc>
              <a:spcBef>
                <a:spcPts val="0"/>
              </a:spcBef>
              <a:spcAft>
                <a:spcPts val="800"/>
              </a:spcAft>
            </a:pPr>
            <a:r>
              <a:rPr sz="1200" b="1" i="0">
                <a:solidFill>
                  <a:srgbClr val="C8A951"/>
                </a:solidFill>
                <a:latin typeface="Calibri"/>
              </a:rPr>
              <a:t>https://nsai4insurance.com/pc-demo-widget.html</a:t>
            </a:r>
          </a:p>
          <a:p>
            <a:pPr algn="l">
              <a:lnSpc>
                <a:spcPct val="110000"/>
              </a:lnSpc>
              <a:spcBef>
                <a:spcPts val="0"/>
              </a:spcBef>
              <a:spcAft>
                <a:spcPts val="800"/>
              </a:spcAft>
            </a:pPr>
            <a:r>
              <a:rPr sz="1200" b="0" i="0">
                <a:solidFill>
                  <a:srgbClr val="C9C2B5"/>
                </a:solidFill>
                <a:latin typeface="Calibri"/>
              </a:rPr>
              <a:t>3.  Resize the add-in to fill this box.</a:t>
            </a:r>
          </a:p>
          <a:p>
            <a:pPr algn="l">
              <a:lnSpc>
                <a:spcPct val="110000"/>
              </a:lnSpc>
              <a:spcBef>
                <a:spcPts val="0"/>
              </a:spcBef>
              <a:spcAft>
                <a:spcPts val="800"/>
              </a:spcAft>
            </a:pPr>
            <a:r>
              <a:rPr sz="1050" b="0" i="1">
                <a:solidFill>
                  <a:srgbClr val="6B6458"/>
                </a:solidFill>
                <a:latin typeface="Calibri"/>
              </a:rPr>
              <a:t>Live after the site is published to the main branch.</a:t>
            </a:r>
          </a:p>
        </p:txBody>
      </p:sp>
      <p:sp>
        <p:nvSpPr>
          <p:cNvPr id="10" name="Rectangle 9"/>
          <p:cNvSpPr/>
          <p:nvPr/>
        </p:nvSpPr>
        <p:spPr>
          <a:xfrm>
            <a:off x="6400800" y="5348668"/>
            <a:ext cx="5120640" cy="457200"/>
          </a:xfrm>
          <a:prstGeom prst="rect">
            <a:avLst/>
          </a:prstGeom>
          <a:solidFill>
            <a:srgbClr val="B84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5348668"/>
            <a:ext cx="5120640" cy="457200"/>
          </a:xfrm>
          <a:prstGeom prst="rect">
            <a:avLst/>
          </a:prstGeom>
          <a:noFill/>
        </p:spPr>
        <p:txBody>
          <a:bodyPr wrap="square" anchor="ctr" lIns="25400" rIns="25400" tIns="25400" bIns="25400">
            <a:spAutoFit/>
          </a:bodyPr>
          <a:lstStyle/>
          <a:p>
            <a:pPr algn="ctr">
              <a:lnSpc>
                <a:spcPct val="105000"/>
              </a:lnSpc>
              <a:spcBef>
                <a:spcPts val="0"/>
              </a:spcBef>
              <a:spcAft>
                <a:spcPts val="0"/>
              </a:spcAft>
            </a:pPr>
            <a:r>
              <a:rPr sz="1300" b="1" i="0">
                <a:solidFill>
                  <a:srgbClr val="F4EFE6"/>
                </a:solidFill>
                <a:latin typeface="Calibri"/>
                <a:hlinkClick r:id="rId5"/>
              </a:rPr>
              <a:t>▶  Open the live demo in a browser</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TextBox 1"/>
          <p:cNvSpPr txBox="1"/>
          <p:nvPr/>
        </p:nvSpPr>
        <p:spPr>
          <a:xfrm>
            <a:off x="822960" y="548640"/>
            <a:ext cx="10058400" cy="27432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B8442E"/>
                </a:solidFill>
                <a:latin typeface="Calibri"/>
              </a:rPr>
              <a:t>METHOD B  ·  RAG + LLM  ·  COMPETENT, FLUENT — AND UNSAFE</a:t>
            </a:r>
          </a:p>
        </p:txBody>
      </p:sp>
      <p:sp>
        <p:nvSpPr>
          <p:cNvPr id="3" name="TextBox 2"/>
          <p:cNvSpPr txBox="1"/>
          <p:nvPr/>
        </p:nvSpPr>
        <p:spPr>
          <a:xfrm>
            <a:off x="822960" y="914400"/>
            <a:ext cx="10515600" cy="822960"/>
          </a:xfrm>
          <a:prstGeom prst="rect">
            <a:avLst/>
          </a:prstGeom>
          <a:noFill/>
        </p:spPr>
        <p:txBody>
          <a:bodyPr wrap="square" anchor="t" lIns="0" rIns="0" tIns="0" bIns="0">
            <a:spAutoFit/>
          </a:bodyPr>
          <a:lstStyle/>
          <a:p>
            <a:pPr algn="l">
              <a:lnSpc>
                <a:spcPct val="100000"/>
              </a:lnSpc>
              <a:spcBef>
                <a:spcPts val="0"/>
              </a:spcBef>
              <a:spcAft>
                <a:spcPts val="600"/>
              </a:spcAft>
            </a:pPr>
            <a:r>
              <a:rPr sz="2800" b="0" i="0">
                <a:solidFill>
                  <a:srgbClr val="0F1419"/>
                </a:solidFill>
                <a:latin typeface="Georgia"/>
              </a:rPr>
              <a:t>What the retrieval-augmented LLM got right — and what it missed.</a:t>
            </a:r>
          </a:p>
        </p:txBody>
      </p:sp>
      <p:sp>
        <p:nvSpPr>
          <p:cNvPr id="4" name="Rectangle 3"/>
          <p:cNvSpPr/>
          <p:nvPr/>
        </p:nvSpPr>
        <p:spPr>
          <a:xfrm>
            <a:off x="822960" y="1874519"/>
            <a:ext cx="5074920" cy="4206240"/>
          </a:xfrm>
          <a:prstGeom prst="rect">
            <a:avLst/>
          </a:prstGeom>
          <a:solidFill>
            <a:srgbClr val="FFFFFF"/>
          </a:solidFill>
          <a:ln w="12700">
            <a:solidFill>
              <a:srgbClr val="ECE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1874519"/>
            <a:ext cx="5074920" cy="457200"/>
          </a:xfrm>
          <a:prstGeom prst="rect">
            <a:avLst/>
          </a:prstGeom>
          <a:solidFill>
            <a:srgbClr val="3F5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938528"/>
            <a:ext cx="466344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FFFFFF"/>
                </a:solidFill>
                <a:latin typeface="Calibri"/>
              </a:rPr>
              <a:t>WHAT IT GOT RIGHT</a:t>
            </a:r>
          </a:p>
        </p:txBody>
      </p:sp>
      <p:sp>
        <p:nvSpPr>
          <p:cNvPr id="7" name="TextBox 6"/>
          <p:cNvSpPr txBox="1"/>
          <p:nvPr/>
        </p:nvSpPr>
        <p:spPr>
          <a:xfrm>
            <a:off x="1051560" y="2560320"/>
            <a:ext cx="4663440" cy="3291840"/>
          </a:xfrm>
          <a:prstGeom prst="rect">
            <a:avLst/>
          </a:prstGeom>
          <a:noFill/>
        </p:spPr>
        <p:txBody>
          <a:bodyPr wrap="square" anchor="t" lIns="0" rIns="0" tIns="0" bIns="0">
            <a:spAutoFit/>
          </a:bodyPr>
          <a:lstStyle/>
          <a:p>
            <a:pPr algn="l">
              <a:lnSpc>
                <a:spcPct val="110000"/>
              </a:lnSpc>
              <a:spcBef>
                <a:spcPts val="0"/>
              </a:spcBef>
              <a:spcAft>
                <a:spcPts val="1200"/>
              </a:spcAft>
            </a:pPr>
            <a:r>
              <a:rPr sz="1400" b="1" i="0">
                <a:solidFill>
                  <a:srgbClr val="3F5E4A"/>
                </a:solidFill>
                <a:latin typeface="Calibri"/>
              </a:rPr>
              <a:t>✓  </a:t>
            </a:r>
            <a:r>
              <a:rPr sz="1400" b="0" i="0">
                <a:solidFill>
                  <a:srgbClr val="2A3340"/>
                </a:solidFill>
                <a:latin typeface="Calibri"/>
              </a:rPr>
              <a:t>Correctly identified a small handyman operation</a:t>
            </a:r>
          </a:p>
          <a:p>
            <a:pPr algn="l">
              <a:lnSpc>
                <a:spcPct val="110000"/>
              </a:lnSpc>
              <a:spcBef>
                <a:spcPts val="0"/>
              </a:spcBef>
              <a:spcAft>
                <a:spcPts val="1200"/>
              </a:spcAft>
            </a:pPr>
            <a:r>
              <a:rPr sz="1400" b="1" i="0">
                <a:solidFill>
                  <a:srgbClr val="3F5E4A"/>
                </a:solidFill>
                <a:latin typeface="Calibri"/>
              </a:rPr>
              <a:t>✓  </a:t>
            </a:r>
            <a:r>
              <a:rPr sz="1400" b="0" i="0">
                <a:solidFill>
                  <a:srgbClr val="2A3340"/>
                </a:solidFill>
                <a:latin typeface="Calibri"/>
              </a:rPr>
              <a:t>Found the relevant appetite and rate references</a:t>
            </a:r>
          </a:p>
          <a:p>
            <a:pPr algn="l">
              <a:lnSpc>
                <a:spcPct val="110000"/>
              </a:lnSpc>
              <a:spcBef>
                <a:spcPts val="0"/>
              </a:spcBef>
              <a:spcAft>
                <a:spcPts val="1200"/>
              </a:spcAft>
            </a:pPr>
            <a:r>
              <a:rPr sz="1400" b="1" i="0">
                <a:solidFill>
                  <a:srgbClr val="3F5E4A"/>
                </a:solidFill>
                <a:latin typeface="Calibri"/>
              </a:rPr>
              <a:t>✓  </a:t>
            </a:r>
            <a:r>
              <a:rPr sz="1400" b="0" i="0">
                <a:solidFill>
                  <a:srgbClr val="2A3340"/>
                </a:solidFill>
                <a:latin typeface="Calibri"/>
              </a:rPr>
              <a:t>Produced a professional, fluent quote — ready to bind</a:t>
            </a:r>
          </a:p>
          <a:p>
            <a:pPr algn="l">
              <a:lnSpc>
                <a:spcPct val="110000"/>
              </a:lnSpc>
              <a:spcBef>
                <a:spcPts val="0"/>
              </a:spcBef>
              <a:spcAft>
                <a:spcPts val="1200"/>
              </a:spcAft>
            </a:pPr>
            <a:r>
              <a:rPr sz="1400" b="1" i="0">
                <a:solidFill>
                  <a:srgbClr val="3F5E4A"/>
                </a:solidFill>
                <a:latin typeface="Calibri"/>
              </a:rPr>
              <a:t>✓  </a:t>
            </a:r>
            <a:r>
              <a:rPr sz="1400" b="0" i="0">
                <a:solidFill>
                  <a:srgbClr val="2A3340"/>
                </a:solidFill>
                <a:latin typeface="Calibri"/>
              </a:rPr>
              <a:t>Premium is competitive for the bound class</a:t>
            </a:r>
          </a:p>
        </p:txBody>
      </p:sp>
      <p:sp>
        <p:nvSpPr>
          <p:cNvPr id="8" name="Rectangle 7"/>
          <p:cNvSpPr/>
          <p:nvPr/>
        </p:nvSpPr>
        <p:spPr>
          <a:xfrm>
            <a:off x="6199632" y="1874519"/>
            <a:ext cx="5166360" cy="4206240"/>
          </a:xfrm>
          <a:prstGeom prst="rect">
            <a:avLst/>
          </a:prstGeom>
          <a:solidFill>
            <a:srgbClr val="FFFFFF"/>
          </a:solidFill>
          <a:ln w="12700">
            <a:solidFill>
              <a:srgbClr val="ECE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1874519"/>
            <a:ext cx="5166360" cy="457200"/>
          </a:xfrm>
          <a:prstGeom prst="rect">
            <a:avLst/>
          </a:prstGeom>
          <a:solidFill>
            <a:srgbClr val="B84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8232" y="1938528"/>
            <a:ext cx="475488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FFFFFF"/>
                </a:solidFill>
                <a:latin typeface="Calibri"/>
              </a:rPr>
              <a:t>WHAT IT MISSED</a:t>
            </a:r>
          </a:p>
        </p:txBody>
      </p:sp>
      <p:sp>
        <p:nvSpPr>
          <p:cNvPr id="11" name="TextBox 10"/>
          <p:cNvSpPr txBox="1"/>
          <p:nvPr/>
        </p:nvSpPr>
        <p:spPr>
          <a:xfrm>
            <a:off x="6428232" y="2560320"/>
            <a:ext cx="4754880" cy="3291840"/>
          </a:xfrm>
          <a:prstGeom prst="rect">
            <a:avLst/>
          </a:prstGeom>
          <a:noFill/>
        </p:spPr>
        <p:txBody>
          <a:bodyPr wrap="square" anchor="t" lIns="0" rIns="0" tIns="0" bIns="0">
            <a:spAutoFit/>
          </a:bodyPr>
          <a:lstStyle/>
          <a:p>
            <a:pPr algn="l">
              <a:lnSpc>
                <a:spcPct val="110000"/>
              </a:lnSpc>
              <a:spcBef>
                <a:spcPts val="0"/>
              </a:spcBef>
              <a:spcAft>
                <a:spcPts val="1200"/>
              </a:spcAft>
            </a:pPr>
            <a:r>
              <a:rPr sz="1400" b="1" i="0">
                <a:solidFill>
                  <a:srgbClr val="B8442E"/>
                </a:solidFill>
                <a:latin typeface="Calibri"/>
              </a:rPr>
              <a:t>✕  </a:t>
            </a:r>
            <a:r>
              <a:rPr sz="1400" b="0" i="0">
                <a:solidFill>
                  <a:srgbClr val="2A3340"/>
                </a:solidFill>
                <a:latin typeface="Calibri"/>
              </a:rPr>
              <a:t>Roof leak / shingle work is roof-surface work — height/fall exposure outside DTC handyman appetite</a:t>
            </a:r>
          </a:p>
          <a:p>
            <a:pPr algn="l">
              <a:lnSpc>
                <a:spcPct val="110000"/>
              </a:lnSpc>
              <a:spcBef>
                <a:spcPts val="0"/>
              </a:spcBef>
              <a:spcAft>
                <a:spcPts val="1200"/>
              </a:spcAft>
            </a:pPr>
            <a:r>
              <a:rPr sz="1400" b="1" i="0">
                <a:solidFill>
                  <a:srgbClr val="B8442E"/>
                </a:solidFill>
                <a:latin typeface="Calibri"/>
              </a:rPr>
              <a:t>✕  </a:t>
            </a:r>
            <a:r>
              <a:rPr sz="1400" b="0" i="0">
                <a:solidFill>
                  <a:srgbClr val="2A3340"/>
                </a:solidFill>
                <a:latin typeface="Calibri"/>
              </a:rPr>
              <a:t>Water-heater work carries water-damage exposure the standard handyman BOP doesn’t fully address</a:t>
            </a:r>
          </a:p>
          <a:p>
            <a:pPr algn="l">
              <a:lnSpc>
                <a:spcPct val="110000"/>
              </a:lnSpc>
              <a:spcBef>
                <a:spcPts val="0"/>
              </a:spcBef>
              <a:spcAft>
                <a:spcPts val="1200"/>
              </a:spcAft>
            </a:pPr>
            <a:r>
              <a:rPr sz="1400" b="1" i="0">
                <a:solidFill>
                  <a:srgbClr val="B8442E"/>
                </a:solidFill>
                <a:latin typeface="Calibri"/>
              </a:rPr>
              <a:t>✕  </a:t>
            </a:r>
            <a:r>
              <a:rPr sz="1400" b="0" i="0">
                <a:solidFill>
                  <a:srgbClr val="2A3340"/>
                </a:solidFill>
                <a:latin typeface="Calibri"/>
              </a:rPr>
              <a:t>Coverage has gaps that only surface at claim time</a:t>
            </a:r>
          </a:p>
          <a:p>
            <a:pPr algn="l">
              <a:lnSpc>
                <a:spcPct val="110000"/>
              </a:lnSpc>
              <a:spcBef>
                <a:spcPts val="0"/>
              </a:spcBef>
              <a:spcAft>
                <a:spcPts val="1200"/>
              </a:spcAft>
            </a:pPr>
            <a:r>
              <a:rPr sz="1400" b="1" i="0">
                <a:solidFill>
                  <a:srgbClr val="B8442E"/>
                </a:solidFill>
                <a:latin typeface="Calibri"/>
              </a:rPr>
              <a:t>✕  </a:t>
            </a:r>
            <a:r>
              <a:rPr sz="1400" b="0" i="0">
                <a:solidFill>
                  <a:srgbClr val="2A3340"/>
                </a:solidFill>
                <a:latin typeface="Calibri"/>
              </a:rPr>
              <a:t>Competitive — because it’s pricing the wrong risk profile</a:t>
            </a:r>
          </a:p>
        </p:txBody>
      </p:sp>
      <p:sp>
        <p:nvSpPr>
          <p:cNvPr id="12" name="TextBox 11"/>
          <p:cNvSpPr txBox="1"/>
          <p:nvPr/>
        </p:nvSpPr>
        <p:spPr>
          <a:xfrm>
            <a:off x="822960" y="6217920"/>
            <a:ext cx="105156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0" i="1">
                <a:solidFill>
                  <a:srgbClr val="6B6458"/>
                </a:solidFill>
                <a:latin typeface="Calibri"/>
              </a:rPr>
              <a:t>The failure is structural, not stupid: retrieval gives the model context — it does not force activity-level decomposition or bind the underwriting rules.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TextBox 1"/>
          <p:cNvSpPr txBox="1"/>
          <p:nvPr/>
        </p:nvSpPr>
        <p:spPr>
          <a:xfrm>
            <a:off x="822960" y="548640"/>
            <a:ext cx="10058400" cy="27432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3F5E4A"/>
                </a:solidFill>
                <a:latin typeface="Calibri"/>
              </a:rPr>
              <a:t>METHOD C  ·  NEUROSYMBOLIC CORE  ·  THE UNDERWRITING BRAIN</a:t>
            </a:r>
          </a:p>
        </p:txBody>
      </p:sp>
      <p:sp>
        <p:nvSpPr>
          <p:cNvPr id="3" name="TextBox 2"/>
          <p:cNvSpPr txBox="1"/>
          <p:nvPr/>
        </p:nvSpPr>
        <p:spPr>
          <a:xfrm>
            <a:off x="822960" y="914400"/>
            <a:ext cx="10515600" cy="822960"/>
          </a:xfrm>
          <a:prstGeom prst="rect">
            <a:avLst/>
          </a:prstGeom>
          <a:noFill/>
        </p:spPr>
        <p:txBody>
          <a:bodyPr wrap="square" anchor="t" lIns="0" rIns="0" tIns="0" bIns="0">
            <a:spAutoFit/>
          </a:bodyPr>
          <a:lstStyle/>
          <a:p>
            <a:pPr algn="l">
              <a:lnSpc>
                <a:spcPct val="100000"/>
              </a:lnSpc>
              <a:spcBef>
                <a:spcPts val="0"/>
              </a:spcBef>
              <a:spcAft>
                <a:spcPts val="600"/>
              </a:spcAft>
            </a:pPr>
            <a:r>
              <a:rPr sz="2800" b="0" i="0">
                <a:solidFill>
                  <a:srgbClr val="0F1419"/>
                </a:solidFill>
                <a:latin typeface="Georgia"/>
              </a:rPr>
              <a:t>What the neurosymbolic core did differently.</a:t>
            </a:r>
          </a:p>
        </p:txBody>
      </p:sp>
      <p:sp>
        <p:nvSpPr>
          <p:cNvPr id="4" name="Rectangle 3"/>
          <p:cNvSpPr/>
          <p:nvPr/>
        </p:nvSpPr>
        <p:spPr>
          <a:xfrm>
            <a:off x="822960" y="1828800"/>
            <a:ext cx="310896" cy="310896"/>
          </a:xfrm>
          <a:prstGeom prst="rect">
            <a:avLst/>
          </a:prstGeom>
          <a:solidFill>
            <a:srgbClr val="3F5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10512"/>
            <a:ext cx="310896" cy="310896"/>
          </a:xfrm>
          <a:prstGeom prst="rect">
            <a:avLst/>
          </a:prstGeom>
          <a:noFill/>
        </p:spPr>
        <p:txBody>
          <a:bodyPr wrap="square" anchor="ctr" lIns="0" rIns="0" tIns="0" bIns="0">
            <a:spAutoFit/>
          </a:bodyPr>
          <a:lstStyle/>
          <a:p>
            <a:pPr algn="ctr">
              <a:lnSpc>
                <a:spcPct val="100000"/>
              </a:lnSpc>
              <a:spcBef>
                <a:spcPts val="0"/>
              </a:spcBef>
              <a:spcAft>
                <a:spcPts val="600"/>
              </a:spcAft>
            </a:pPr>
            <a:r>
              <a:rPr sz="1400" b="1" i="0">
                <a:solidFill>
                  <a:srgbClr val="FFFFFF"/>
                </a:solidFill>
                <a:latin typeface="Calibri"/>
              </a:rPr>
              <a:t>1</a:t>
            </a:r>
          </a:p>
        </p:txBody>
      </p:sp>
      <p:sp>
        <p:nvSpPr>
          <p:cNvPr id="6" name="TextBox 5"/>
          <p:cNvSpPr txBox="1"/>
          <p:nvPr/>
        </p:nvSpPr>
        <p:spPr>
          <a:xfrm>
            <a:off x="1280160" y="1783080"/>
            <a:ext cx="4800600" cy="1280160"/>
          </a:xfrm>
          <a:prstGeom prst="rect">
            <a:avLst/>
          </a:prstGeom>
          <a:noFill/>
        </p:spPr>
        <p:txBody>
          <a:bodyPr wrap="square" anchor="t" lIns="0" rIns="0" tIns="0" bIns="0">
            <a:spAutoFit/>
          </a:bodyPr>
          <a:lstStyle/>
          <a:p>
            <a:pPr algn="l">
              <a:lnSpc>
                <a:spcPct val="105000"/>
              </a:lnSpc>
              <a:spcBef>
                <a:spcPts val="0"/>
              </a:spcBef>
              <a:spcAft>
                <a:spcPts val="300"/>
              </a:spcAft>
            </a:pPr>
            <a:r>
              <a:rPr sz="1500" b="1" i="0">
                <a:solidFill>
                  <a:srgbClr val="0F1419"/>
                </a:solidFill>
                <a:latin typeface="Calibri"/>
              </a:rPr>
              <a:t>Decomposed the activity set</a:t>
            </a:r>
          </a:p>
          <a:p>
            <a:pPr algn="l">
              <a:lnSpc>
                <a:spcPct val="105000"/>
              </a:lnSpc>
              <a:spcBef>
                <a:spcPts val="0"/>
              </a:spcBef>
              <a:spcAft>
                <a:spcPts val="300"/>
              </a:spcAft>
            </a:pPr>
            <a:r>
              <a:rPr sz="1200" b="0" i="0">
                <a:solidFill>
                  <a:srgbClr val="2A3340"/>
                </a:solidFill>
                <a:latin typeface="Calibri"/>
              </a:rPr>
              <a:t>Five described activities → three exposure classes (light-interior, water-heater, roof-surface) — not one bundled “handyman” label.</a:t>
            </a:r>
          </a:p>
        </p:txBody>
      </p:sp>
      <p:sp>
        <p:nvSpPr>
          <p:cNvPr id="7" name="Rectangle 6"/>
          <p:cNvSpPr/>
          <p:nvPr/>
        </p:nvSpPr>
        <p:spPr>
          <a:xfrm>
            <a:off x="6309360" y="1828800"/>
            <a:ext cx="310896" cy="310896"/>
          </a:xfrm>
          <a:prstGeom prst="rect">
            <a:avLst/>
          </a:prstGeom>
          <a:solidFill>
            <a:srgbClr val="3F5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810512"/>
            <a:ext cx="310896" cy="310896"/>
          </a:xfrm>
          <a:prstGeom prst="rect">
            <a:avLst/>
          </a:prstGeom>
          <a:noFill/>
        </p:spPr>
        <p:txBody>
          <a:bodyPr wrap="square" anchor="ctr" lIns="0" rIns="0" tIns="0" bIns="0">
            <a:spAutoFit/>
          </a:bodyPr>
          <a:lstStyle/>
          <a:p>
            <a:pPr algn="ctr">
              <a:lnSpc>
                <a:spcPct val="100000"/>
              </a:lnSpc>
              <a:spcBef>
                <a:spcPts val="0"/>
              </a:spcBef>
              <a:spcAft>
                <a:spcPts val="600"/>
              </a:spcAft>
            </a:pPr>
            <a:r>
              <a:rPr sz="1400" b="1" i="0">
                <a:solidFill>
                  <a:srgbClr val="FFFFFF"/>
                </a:solidFill>
                <a:latin typeface="Calibri"/>
              </a:rPr>
              <a:t>2</a:t>
            </a:r>
          </a:p>
        </p:txBody>
      </p:sp>
      <p:sp>
        <p:nvSpPr>
          <p:cNvPr id="9" name="TextBox 8"/>
          <p:cNvSpPr txBox="1"/>
          <p:nvPr/>
        </p:nvSpPr>
        <p:spPr>
          <a:xfrm>
            <a:off x="6766560" y="1783080"/>
            <a:ext cx="4800600" cy="1280160"/>
          </a:xfrm>
          <a:prstGeom prst="rect">
            <a:avLst/>
          </a:prstGeom>
          <a:noFill/>
        </p:spPr>
        <p:txBody>
          <a:bodyPr wrap="square" anchor="t" lIns="0" rIns="0" tIns="0" bIns="0">
            <a:spAutoFit/>
          </a:bodyPr>
          <a:lstStyle/>
          <a:p>
            <a:pPr algn="l">
              <a:lnSpc>
                <a:spcPct val="105000"/>
              </a:lnSpc>
              <a:spcBef>
                <a:spcPts val="0"/>
              </a:spcBef>
              <a:spcAft>
                <a:spcPts val="300"/>
              </a:spcAft>
            </a:pPr>
            <a:r>
              <a:rPr sz="1500" b="1" i="0">
                <a:solidFill>
                  <a:srgbClr val="0F1419"/>
                </a:solidFill>
                <a:latin typeface="Calibri"/>
              </a:rPr>
              <a:t>Caught the appetite breach</a:t>
            </a:r>
          </a:p>
          <a:p>
            <a:pPr algn="l">
              <a:lnSpc>
                <a:spcPct val="105000"/>
              </a:lnSpc>
              <a:spcBef>
                <a:spcPts val="0"/>
              </a:spcBef>
              <a:spcAft>
                <a:spcPts val="300"/>
              </a:spcAft>
            </a:pPr>
            <a:r>
              <a:rPr sz="1200" b="0" i="0">
                <a:solidFill>
                  <a:srgbClr val="2A3340"/>
                </a:solidFill>
                <a:latin typeface="Calibri"/>
              </a:rPr>
              <a:t>Roof-surface work inherits height-work exposure → flagged outside standard DTC handyman appetite (SC-HAZ-12).</a:t>
            </a:r>
          </a:p>
        </p:txBody>
      </p:sp>
      <p:sp>
        <p:nvSpPr>
          <p:cNvPr id="10" name="Rectangle 9"/>
          <p:cNvSpPr/>
          <p:nvPr/>
        </p:nvSpPr>
        <p:spPr>
          <a:xfrm>
            <a:off x="822960" y="3200400"/>
            <a:ext cx="310896" cy="310896"/>
          </a:xfrm>
          <a:prstGeom prst="rect">
            <a:avLst/>
          </a:prstGeom>
          <a:solidFill>
            <a:srgbClr val="3F5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182112"/>
            <a:ext cx="310896" cy="310896"/>
          </a:xfrm>
          <a:prstGeom prst="rect">
            <a:avLst/>
          </a:prstGeom>
          <a:noFill/>
        </p:spPr>
        <p:txBody>
          <a:bodyPr wrap="square" anchor="ctr" lIns="0" rIns="0" tIns="0" bIns="0">
            <a:spAutoFit/>
          </a:bodyPr>
          <a:lstStyle/>
          <a:p>
            <a:pPr algn="ctr">
              <a:lnSpc>
                <a:spcPct val="100000"/>
              </a:lnSpc>
              <a:spcBef>
                <a:spcPts val="0"/>
              </a:spcBef>
              <a:spcAft>
                <a:spcPts val="600"/>
              </a:spcAft>
            </a:pPr>
            <a:r>
              <a:rPr sz="1400" b="1" i="0">
                <a:solidFill>
                  <a:srgbClr val="FFFFFF"/>
                </a:solidFill>
                <a:latin typeface="Calibri"/>
              </a:rPr>
              <a:t>3</a:t>
            </a:r>
          </a:p>
        </p:txBody>
      </p:sp>
      <p:sp>
        <p:nvSpPr>
          <p:cNvPr id="12" name="TextBox 11"/>
          <p:cNvSpPr txBox="1"/>
          <p:nvPr/>
        </p:nvSpPr>
        <p:spPr>
          <a:xfrm>
            <a:off x="1280160" y="3154680"/>
            <a:ext cx="4800600" cy="1280160"/>
          </a:xfrm>
          <a:prstGeom prst="rect">
            <a:avLst/>
          </a:prstGeom>
          <a:noFill/>
        </p:spPr>
        <p:txBody>
          <a:bodyPr wrap="square" anchor="t" lIns="0" rIns="0" tIns="0" bIns="0">
            <a:spAutoFit/>
          </a:bodyPr>
          <a:lstStyle/>
          <a:p>
            <a:pPr algn="l">
              <a:lnSpc>
                <a:spcPct val="105000"/>
              </a:lnSpc>
              <a:spcBef>
                <a:spcPts val="0"/>
              </a:spcBef>
              <a:spcAft>
                <a:spcPts val="300"/>
              </a:spcAft>
            </a:pPr>
            <a:r>
              <a:rPr sz="1500" b="1" i="0">
                <a:solidFill>
                  <a:srgbClr val="0F1419"/>
                </a:solidFill>
                <a:latin typeface="Calibri"/>
              </a:rPr>
              <a:t>Connected to claim patterns</a:t>
            </a:r>
          </a:p>
          <a:p>
            <a:pPr algn="l">
              <a:lnSpc>
                <a:spcPct val="105000"/>
              </a:lnSpc>
              <a:spcBef>
                <a:spcPts val="0"/>
              </a:spcBef>
              <a:spcAft>
                <a:spcPts val="300"/>
              </a:spcAft>
            </a:pPr>
            <a:r>
              <a:rPr sz="1200" b="0" i="0">
                <a:solidFill>
                  <a:srgbClr val="2A3340"/>
                </a:solidFill>
                <a:latin typeface="Calibri"/>
              </a:rPr>
              <a:t>Same shared underwriting + claims ontology: Delgado is compared to risks with the same activity mix, not all “handymen.”</a:t>
            </a:r>
          </a:p>
        </p:txBody>
      </p:sp>
      <p:sp>
        <p:nvSpPr>
          <p:cNvPr id="13" name="Rectangle 12"/>
          <p:cNvSpPr/>
          <p:nvPr/>
        </p:nvSpPr>
        <p:spPr>
          <a:xfrm>
            <a:off x="6309360" y="3200400"/>
            <a:ext cx="310896" cy="310896"/>
          </a:xfrm>
          <a:prstGeom prst="rect">
            <a:avLst/>
          </a:prstGeom>
          <a:solidFill>
            <a:srgbClr val="3F5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3182112"/>
            <a:ext cx="310896" cy="310896"/>
          </a:xfrm>
          <a:prstGeom prst="rect">
            <a:avLst/>
          </a:prstGeom>
          <a:noFill/>
        </p:spPr>
        <p:txBody>
          <a:bodyPr wrap="square" anchor="ctr" lIns="0" rIns="0" tIns="0" bIns="0">
            <a:spAutoFit/>
          </a:bodyPr>
          <a:lstStyle/>
          <a:p>
            <a:pPr algn="ctr">
              <a:lnSpc>
                <a:spcPct val="100000"/>
              </a:lnSpc>
              <a:spcBef>
                <a:spcPts val="0"/>
              </a:spcBef>
              <a:spcAft>
                <a:spcPts val="600"/>
              </a:spcAft>
            </a:pPr>
            <a:r>
              <a:rPr sz="1400" b="1" i="0">
                <a:solidFill>
                  <a:srgbClr val="FFFFFF"/>
                </a:solidFill>
                <a:latin typeface="Calibri"/>
              </a:rPr>
              <a:t>4</a:t>
            </a:r>
          </a:p>
        </p:txBody>
      </p:sp>
      <p:sp>
        <p:nvSpPr>
          <p:cNvPr id="15" name="TextBox 14"/>
          <p:cNvSpPr txBox="1"/>
          <p:nvPr/>
        </p:nvSpPr>
        <p:spPr>
          <a:xfrm>
            <a:off x="6766560" y="3154680"/>
            <a:ext cx="4800600" cy="1280160"/>
          </a:xfrm>
          <a:prstGeom prst="rect">
            <a:avLst/>
          </a:prstGeom>
          <a:noFill/>
        </p:spPr>
        <p:txBody>
          <a:bodyPr wrap="square" anchor="t" lIns="0" rIns="0" tIns="0" bIns="0">
            <a:spAutoFit/>
          </a:bodyPr>
          <a:lstStyle/>
          <a:p>
            <a:pPr algn="l">
              <a:lnSpc>
                <a:spcPct val="105000"/>
              </a:lnSpc>
              <a:spcBef>
                <a:spcPts val="0"/>
              </a:spcBef>
              <a:spcAft>
                <a:spcPts val="300"/>
              </a:spcAft>
            </a:pPr>
            <a:r>
              <a:rPr sz="1500" b="1" i="0">
                <a:solidFill>
                  <a:srgbClr val="0F1419"/>
                </a:solidFill>
                <a:latin typeface="Calibri"/>
              </a:rPr>
              <a:t>Priced each exposure separately</a:t>
            </a:r>
          </a:p>
          <a:p>
            <a:pPr algn="l">
              <a:lnSpc>
                <a:spcPct val="105000"/>
              </a:lnSpc>
              <a:spcBef>
                <a:spcPts val="0"/>
              </a:spcBef>
              <a:spcAft>
                <a:spcPts val="300"/>
              </a:spcAft>
            </a:pPr>
            <a:r>
              <a:rPr sz="1200" b="0" i="0">
                <a:solidFill>
                  <a:srgbClr val="2A3340"/>
                </a:solidFill>
                <a:latin typeface="Calibri"/>
              </a:rPr>
              <a:t>Per-activity rating with water-damage and height-exposure endorsements — every value traces to a named source.</a:t>
            </a:r>
          </a:p>
        </p:txBody>
      </p:sp>
      <p:sp>
        <p:nvSpPr>
          <p:cNvPr id="16" name="Rectangle 15"/>
          <p:cNvSpPr/>
          <p:nvPr/>
        </p:nvSpPr>
        <p:spPr>
          <a:xfrm>
            <a:off x="822960" y="4572000"/>
            <a:ext cx="310896" cy="310896"/>
          </a:xfrm>
          <a:prstGeom prst="rect">
            <a:avLst/>
          </a:prstGeom>
          <a:solidFill>
            <a:srgbClr val="3F5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553712"/>
            <a:ext cx="310896" cy="310896"/>
          </a:xfrm>
          <a:prstGeom prst="rect">
            <a:avLst/>
          </a:prstGeom>
          <a:noFill/>
        </p:spPr>
        <p:txBody>
          <a:bodyPr wrap="square" anchor="ctr" lIns="0" rIns="0" tIns="0" bIns="0">
            <a:spAutoFit/>
          </a:bodyPr>
          <a:lstStyle/>
          <a:p>
            <a:pPr algn="ctr">
              <a:lnSpc>
                <a:spcPct val="100000"/>
              </a:lnSpc>
              <a:spcBef>
                <a:spcPts val="0"/>
              </a:spcBef>
              <a:spcAft>
                <a:spcPts val="600"/>
              </a:spcAft>
            </a:pPr>
            <a:r>
              <a:rPr sz="1400" b="1" i="0">
                <a:solidFill>
                  <a:srgbClr val="FFFFFF"/>
                </a:solidFill>
                <a:latin typeface="Calibri"/>
              </a:rPr>
              <a:t>5</a:t>
            </a:r>
          </a:p>
        </p:txBody>
      </p:sp>
      <p:sp>
        <p:nvSpPr>
          <p:cNvPr id="18" name="TextBox 17"/>
          <p:cNvSpPr txBox="1"/>
          <p:nvPr/>
        </p:nvSpPr>
        <p:spPr>
          <a:xfrm>
            <a:off x="1280160" y="4526280"/>
            <a:ext cx="4800600" cy="1280160"/>
          </a:xfrm>
          <a:prstGeom prst="rect">
            <a:avLst/>
          </a:prstGeom>
          <a:noFill/>
        </p:spPr>
        <p:txBody>
          <a:bodyPr wrap="square" anchor="t" lIns="0" rIns="0" tIns="0" bIns="0">
            <a:spAutoFit/>
          </a:bodyPr>
          <a:lstStyle/>
          <a:p>
            <a:pPr algn="l">
              <a:lnSpc>
                <a:spcPct val="105000"/>
              </a:lnSpc>
              <a:spcBef>
                <a:spcPts val="0"/>
              </a:spcBef>
              <a:spcAft>
                <a:spcPts val="300"/>
              </a:spcAft>
            </a:pPr>
            <a:r>
              <a:rPr sz="1500" b="1" i="0">
                <a:solidFill>
                  <a:srgbClr val="0F1419"/>
                </a:solidFill>
                <a:latin typeface="Calibri"/>
              </a:rPr>
              <a:t>Produced two options, kept agency</a:t>
            </a:r>
          </a:p>
          <a:p>
            <a:pPr algn="l">
              <a:lnSpc>
                <a:spcPct val="105000"/>
              </a:lnSpc>
              <a:spcBef>
                <a:spcPts val="0"/>
              </a:spcBef>
              <a:spcAft>
                <a:spcPts val="300"/>
              </a:spcAft>
            </a:pPr>
            <a:r>
              <a:rPr sz="1200" b="0" i="0">
                <a:solidFill>
                  <a:srgbClr val="2A3340"/>
                </a:solidFill>
                <a:latin typeface="Calibri"/>
              </a:rPr>
              <a:t>Option A full-scope (~$4,100, specialty UW) · Option B bind today, roof excluded ($1,950) — customer chooses.</a:t>
            </a:r>
          </a:p>
        </p:txBody>
      </p:sp>
      <p:sp>
        <p:nvSpPr>
          <p:cNvPr id="19" name="Rectangle 18"/>
          <p:cNvSpPr/>
          <p:nvPr/>
        </p:nvSpPr>
        <p:spPr>
          <a:xfrm>
            <a:off x="6309360" y="4572000"/>
            <a:ext cx="310896" cy="310896"/>
          </a:xfrm>
          <a:prstGeom prst="rect">
            <a:avLst/>
          </a:prstGeom>
          <a:solidFill>
            <a:srgbClr val="3F5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4553712"/>
            <a:ext cx="310896" cy="310896"/>
          </a:xfrm>
          <a:prstGeom prst="rect">
            <a:avLst/>
          </a:prstGeom>
          <a:noFill/>
        </p:spPr>
        <p:txBody>
          <a:bodyPr wrap="square" anchor="ctr" lIns="0" rIns="0" tIns="0" bIns="0">
            <a:spAutoFit/>
          </a:bodyPr>
          <a:lstStyle/>
          <a:p>
            <a:pPr algn="ctr">
              <a:lnSpc>
                <a:spcPct val="100000"/>
              </a:lnSpc>
              <a:spcBef>
                <a:spcPts val="0"/>
              </a:spcBef>
              <a:spcAft>
                <a:spcPts val="600"/>
              </a:spcAft>
            </a:pPr>
            <a:r>
              <a:rPr sz="1400" b="1" i="0">
                <a:solidFill>
                  <a:srgbClr val="FFFFFF"/>
                </a:solidFill>
                <a:latin typeface="Calibri"/>
              </a:rPr>
              <a:t>6</a:t>
            </a:r>
          </a:p>
        </p:txBody>
      </p:sp>
      <p:sp>
        <p:nvSpPr>
          <p:cNvPr id="21" name="TextBox 20"/>
          <p:cNvSpPr txBox="1"/>
          <p:nvPr/>
        </p:nvSpPr>
        <p:spPr>
          <a:xfrm>
            <a:off x="6766560" y="4526280"/>
            <a:ext cx="4800600" cy="1280160"/>
          </a:xfrm>
          <a:prstGeom prst="rect">
            <a:avLst/>
          </a:prstGeom>
          <a:noFill/>
        </p:spPr>
        <p:txBody>
          <a:bodyPr wrap="square" anchor="t" lIns="0" rIns="0" tIns="0" bIns="0">
            <a:spAutoFit/>
          </a:bodyPr>
          <a:lstStyle/>
          <a:p>
            <a:pPr algn="l">
              <a:lnSpc>
                <a:spcPct val="105000"/>
              </a:lnSpc>
              <a:spcBef>
                <a:spcPts val="0"/>
              </a:spcBef>
              <a:spcAft>
                <a:spcPts val="300"/>
              </a:spcAft>
            </a:pPr>
            <a:r>
              <a:rPr sz="1500" b="1" i="0">
                <a:solidFill>
                  <a:srgbClr val="0F1419"/>
                </a:solidFill>
                <a:latin typeface="Calibri"/>
              </a:rPr>
              <a:t>Wrote the explanation</a:t>
            </a:r>
          </a:p>
          <a:p>
            <a:pPr algn="l">
              <a:lnSpc>
                <a:spcPct val="105000"/>
              </a:lnSpc>
              <a:spcBef>
                <a:spcPts val="0"/>
              </a:spcBef>
              <a:spcAft>
                <a:spcPts val="300"/>
              </a:spcAft>
            </a:pPr>
            <a:r>
              <a:rPr sz="1200" b="0" i="0">
                <a:solidFill>
                  <a:srgbClr val="2A3340"/>
                </a:solidFill>
                <a:latin typeface="Calibri"/>
              </a:rPr>
              <a:t>A customer message that turns a higher quote into an informed choice — plus truck/auto and workers’-comp handoffs.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822960" y="502920"/>
            <a:ext cx="10515600" cy="27432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C8A951"/>
                </a:solidFill>
                <a:latin typeface="Calibri"/>
              </a:rPr>
              <a:t>SIDE BY SIDE  ·  WHAT EACH APPROACH DELIVERS</a:t>
            </a:r>
          </a:p>
        </p:txBody>
      </p:sp>
      <p:sp>
        <p:nvSpPr>
          <p:cNvPr id="3" name="TextBox 2"/>
          <p:cNvSpPr txBox="1"/>
          <p:nvPr/>
        </p:nvSpPr>
        <p:spPr>
          <a:xfrm>
            <a:off x="822960" y="841248"/>
            <a:ext cx="10515600" cy="548640"/>
          </a:xfrm>
          <a:prstGeom prst="rect">
            <a:avLst/>
          </a:prstGeom>
          <a:noFill/>
        </p:spPr>
        <p:txBody>
          <a:bodyPr wrap="square" anchor="t" lIns="0" rIns="0" tIns="0" bIns="0">
            <a:spAutoFit/>
          </a:bodyPr>
          <a:lstStyle/>
          <a:p>
            <a:pPr algn="l">
              <a:lnSpc>
                <a:spcPct val="100000"/>
              </a:lnSpc>
              <a:spcBef>
                <a:spcPts val="0"/>
              </a:spcBef>
              <a:spcAft>
                <a:spcPts val="600"/>
              </a:spcAft>
            </a:pPr>
            <a:r>
              <a:rPr sz="2800" b="0" i="0">
                <a:solidFill>
                  <a:srgbClr val="F4EFE6"/>
                </a:solidFill>
                <a:latin typeface="Georgia"/>
              </a:rPr>
              <a:t>The scorecard.</a:t>
            </a:r>
          </a:p>
        </p:txBody>
      </p:sp>
      <p:sp>
        <p:nvSpPr>
          <p:cNvPr id="4" name="Rectangle 3"/>
          <p:cNvSpPr/>
          <p:nvPr/>
        </p:nvSpPr>
        <p:spPr>
          <a:xfrm>
            <a:off x="4754880" y="1600200"/>
            <a:ext cx="3291840" cy="475488"/>
          </a:xfrm>
          <a:prstGeom prst="rect">
            <a:avLst/>
          </a:prstGeom>
          <a:solidFill>
            <a:srgbClr val="B84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0" y="1600200"/>
            <a:ext cx="3291840" cy="475488"/>
          </a:xfrm>
          <a:prstGeom prst="rect">
            <a:avLst/>
          </a:prstGeom>
          <a:solidFill>
            <a:srgbClr val="3F5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600200"/>
            <a:ext cx="3749040" cy="475488"/>
          </a:xfrm>
          <a:prstGeom prst="rect">
            <a:avLst/>
          </a:prstGeom>
          <a:noFill/>
        </p:spPr>
        <p:txBody>
          <a:bodyPr wrap="square" anchor="ctr" lIns="0" rIns="0" tIns="0" bIns="0">
            <a:spAutoFit/>
          </a:bodyPr>
          <a:lstStyle/>
          <a:p>
            <a:pPr algn="l">
              <a:lnSpc>
                <a:spcPct val="100000"/>
              </a:lnSpc>
              <a:spcBef>
                <a:spcPts val="0"/>
              </a:spcBef>
              <a:spcAft>
                <a:spcPts val="600"/>
              </a:spcAft>
            </a:pPr>
            <a:r>
              <a:rPr sz="1300" b="1" i="0">
                <a:solidFill>
                  <a:srgbClr val="F4EFE6"/>
                </a:solidFill>
                <a:latin typeface="Calibri"/>
              </a:rPr>
              <a:t/>
            </a:r>
          </a:p>
        </p:txBody>
      </p:sp>
      <p:sp>
        <p:nvSpPr>
          <p:cNvPr id="7" name="TextBox 6"/>
          <p:cNvSpPr txBox="1"/>
          <p:nvPr/>
        </p:nvSpPr>
        <p:spPr>
          <a:xfrm>
            <a:off x="4864608" y="1600200"/>
            <a:ext cx="3108960" cy="475488"/>
          </a:xfrm>
          <a:prstGeom prst="rect">
            <a:avLst/>
          </a:prstGeom>
          <a:noFill/>
        </p:spPr>
        <p:txBody>
          <a:bodyPr wrap="square" anchor="ctr" lIns="0" rIns="0" tIns="0" bIns="0">
            <a:spAutoFit/>
          </a:bodyPr>
          <a:lstStyle/>
          <a:p>
            <a:pPr algn="l">
              <a:lnSpc>
                <a:spcPct val="100000"/>
              </a:lnSpc>
              <a:spcBef>
                <a:spcPts val="0"/>
              </a:spcBef>
              <a:spcAft>
                <a:spcPts val="600"/>
              </a:spcAft>
            </a:pPr>
            <a:r>
              <a:rPr sz="1300" b="1" i="0">
                <a:solidFill>
                  <a:srgbClr val="FFFFFF"/>
                </a:solidFill>
                <a:latin typeface="Calibri"/>
              </a:rPr>
              <a:t>RAG + LLM</a:t>
            </a:r>
          </a:p>
        </p:txBody>
      </p:sp>
      <p:sp>
        <p:nvSpPr>
          <p:cNvPr id="8" name="TextBox 7"/>
          <p:cNvSpPr txBox="1"/>
          <p:nvPr/>
        </p:nvSpPr>
        <p:spPr>
          <a:xfrm>
            <a:off x="8156448" y="1600200"/>
            <a:ext cx="3108960" cy="475488"/>
          </a:xfrm>
          <a:prstGeom prst="rect">
            <a:avLst/>
          </a:prstGeom>
          <a:noFill/>
        </p:spPr>
        <p:txBody>
          <a:bodyPr wrap="square" anchor="ctr" lIns="0" rIns="0" tIns="0" bIns="0">
            <a:spAutoFit/>
          </a:bodyPr>
          <a:lstStyle/>
          <a:p>
            <a:pPr algn="l">
              <a:lnSpc>
                <a:spcPct val="100000"/>
              </a:lnSpc>
              <a:spcBef>
                <a:spcPts val="0"/>
              </a:spcBef>
              <a:spcAft>
                <a:spcPts val="600"/>
              </a:spcAft>
            </a:pPr>
            <a:r>
              <a:rPr sz="1300" b="1" i="0">
                <a:solidFill>
                  <a:srgbClr val="FFFFFF"/>
                </a:solidFill>
                <a:latin typeface="Calibri"/>
              </a:rPr>
              <a:t>Neurosymbolic</a:t>
            </a:r>
          </a:p>
        </p:txBody>
      </p:sp>
      <p:sp>
        <p:nvSpPr>
          <p:cNvPr id="9" name="TextBox 8"/>
          <p:cNvSpPr txBox="1"/>
          <p:nvPr/>
        </p:nvSpPr>
        <p:spPr>
          <a:xfrm>
            <a:off x="932688" y="2075688"/>
            <a:ext cx="3749040" cy="475488"/>
          </a:xfrm>
          <a:prstGeom prst="rect">
            <a:avLst/>
          </a:prstGeom>
          <a:noFill/>
        </p:spPr>
        <p:txBody>
          <a:bodyPr wrap="square" anchor="ctr" lIns="0" rIns="0" tIns="0" bIns="0">
            <a:spAutoFit/>
          </a:bodyPr>
          <a:lstStyle/>
          <a:p>
            <a:pPr algn="l">
              <a:lnSpc>
                <a:spcPct val="100000"/>
              </a:lnSpc>
              <a:spcBef>
                <a:spcPts val="0"/>
              </a:spcBef>
              <a:spcAft>
                <a:spcPts val="600"/>
              </a:spcAft>
            </a:pPr>
            <a:r>
              <a:rPr sz="1250" b="0" i="0">
                <a:solidFill>
                  <a:srgbClr val="C9C2B5"/>
                </a:solidFill>
                <a:latin typeface="Calibri"/>
              </a:rPr>
              <a:t>Business activities recognized</a:t>
            </a:r>
          </a:p>
        </p:txBody>
      </p:sp>
      <p:sp>
        <p:nvSpPr>
          <p:cNvPr id="10" name="TextBox 9"/>
          <p:cNvSpPr txBox="1"/>
          <p:nvPr/>
        </p:nvSpPr>
        <p:spPr>
          <a:xfrm>
            <a:off x="4864608" y="2075688"/>
            <a:ext cx="3108960" cy="475488"/>
          </a:xfrm>
          <a:prstGeom prst="rect">
            <a:avLst/>
          </a:prstGeom>
          <a:noFill/>
        </p:spPr>
        <p:txBody>
          <a:bodyPr wrap="square" anchor="ctr" lIns="0" rIns="0" tIns="0" bIns="0">
            <a:spAutoFit/>
          </a:bodyPr>
          <a:lstStyle/>
          <a:p>
            <a:pPr algn="l">
              <a:lnSpc>
                <a:spcPct val="100000"/>
              </a:lnSpc>
              <a:spcBef>
                <a:spcPts val="0"/>
              </a:spcBef>
              <a:spcAft>
                <a:spcPts val="600"/>
              </a:spcAft>
            </a:pPr>
            <a:r>
              <a:rPr sz="1250" b="0" i="0">
                <a:solidFill>
                  <a:srgbClr val="E09A88"/>
                </a:solidFill>
                <a:latin typeface="Calibri"/>
              </a:rPr>
              <a:t>1 bundled label: handyman</a:t>
            </a:r>
          </a:p>
        </p:txBody>
      </p:sp>
      <p:sp>
        <p:nvSpPr>
          <p:cNvPr id="11" name="TextBox 10"/>
          <p:cNvSpPr txBox="1"/>
          <p:nvPr/>
        </p:nvSpPr>
        <p:spPr>
          <a:xfrm>
            <a:off x="8156448" y="2075688"/>
            <a:ext cx="3108960" cy="475488"/>
          </a:xfrm>
          <a:prstGeom prst="rect">
            <a:avLst/>
          </a:prstGeom>
          <a:noFill/>
        </p:spPr>
        <p:txBody>
          <a:bodyPr wrap="square" anchor="ctr" lIns="0" rIns="0" tIns="0" bIns="0">
            <a:spAutoFit/>
          </a:bodyPr>
          <a:lstStyle/>
          <a:p>
            <a:pPr algn="l">
              <a:lnSpc>
                <a:spcPct val="100000"/>
              </a:lnSpc>
              <a:spcBef>
                <a:spcPts val="0"/>
              </a:spcBef>
              <a:spcAft>
                <a:spcPts val="600"/>
              </a:spcAft>
            </a:pPr>
            <a:r>
              <a:rPr sz="1250" b="1" i="0">
                <a:solidFill>
                  <a:srgbClr val="A8C4B1"/>
                </a:solidFill>
                <a:latin typeface="Calibri"/>
              </a:rPr>
              <a:t>3 activity classes</a:t>
            </a:r>
          </a:p>
        </p:txBody>
      </p:sp>
      <p:sp>
        <p:nvSpPr>
          <p:cNvPr id="12" name="Rectangle 11"/>
          <p:cNvSpPr/>
          <p:nvPr/>
        </p:nvSpPr>
        <p:spPr>
          <a:xfrm>
            <a:off x="822960" y="2551176"/>
            <a:ext cx="10515600" cy="475488"/>
          </a:xfrm>
          <a:prstGeom prst="rect">
            <a:avLst/>
          </a:prstGeom>
          <a:solidFill>
            <a:srgbClr val="1A20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551176"/>
            <a:ext cx="3749040" cy="475488"/>
          </a:xfrm>
          <a:prstGeom prst="rect">
            <a:avLst/>
          </a:prstGeom>
          <a:noFill/>
        </p:spPr>
        <p:txBody>
          <a:bodyPr wrap="square" anchor="ctr" lIns="0" rIns="0" tIns="0" bIns="0">
            <a:spAutoFit/>
          </a:bodyPr>
          <a:lstStyle/>
          <a:p>
            <a:pPr algn="l">
              <a:lnSpc>
                <a:spcPct val="100000"/>
              </a:lnSpc>
              <a:spcBef>
                <a:spcPts val="0"/>
              </a:spcBef>
              <a:spcAft>
                <a:spcPts val="600"/>
              </a:spcAft>
            </a:pPr>
            <a:r>
              <a:rPr sz="1250" b="0" i="0">
                <a:solidFill>
                  <a:srgbClr val="C9C2B5"/>
                </a:solidFill>
                <a:latin typeface="Calibri"/>
              </a:rPr>
              <a:t>Exposure-class accuracy</a:t>
            </a:r>
          </a:p>
        </p:txBody>
      </p:sp>
      <p:sp>
        <p:nvSpPr>
          <p:cNvPr id="14" name="TextBox 13"/>
          <p:cNvSpPr txBox="1"/>
          <p:nvPr/>
        </p:nvSpPr>
        <p:spPr>
          <a:xfrm>
            <a:off x="4864608" y="2551176"/>
            <a:ext cx="3108960" cy="475488"/>
          </a:xfrm>
          <a:prstGeom prst="rect">
            <a:avLst/>
          </a:prstGeom>
          <a:noFill/>
        </p:spPr>
        <p:txBody>
          <a:bodyPr wrap="square" anchor="ctr" lIns="0" rIns="0" tIns="0" bIns="0">
            <a:spAutoFit/>
          </a:bodyPr>
          <a:lstStyle/>
          <a:p>
            <a:pPr algn="l">
              <a:lnSpc>
                <a:spcPct val="100000"/>
              </a:lnSpc>
              <a:spcBef>
                <a:spcPts val="0"/>
              </a:spcBef>
              <a:spcAft>
                <a:spcPts val="600"/>
              </a:spcAft>
            </a:pPr>
            <a:r>
              <a:rPr sz="1250" b="0" i="0">
                <a:solidFill>
                  <a:srgbClr val="E09A88"/>
                </a:solidFill>
                <a:latin typeface="Calibri"/>
              </a:rPr>
              <a:t>Self-classified</a:t>
            </a:r>
          </a:p>
        </p:txBody>
      </p:sp>
      <p:sp>
        <p:nvSpPr>
          <p:cNvPr id="15" name="TextBox 14"/>
          <p:cNvSpPr txBox="1"/>
          <p:nvPr/>
        </p:nvSpPr>
        <p:spPr>
          <a:xfrm>
            <a:off x="8156448" y="2551176"/>
            <a:ext cx="3108960" cy="475488"/>
          </a:xfrm>
          <a:prstGeom prst="rect">
            <a:avLst/>
          </a:prstGeom>
          <a:noFill/>
        </p:spPr>
        <p:txBody>
          <a:bodyPr wrap="square" anchor="ctr" lIns="0" rIns="0" tIns="0" bIns="0">
            <a:spAutoFit/>
          </a:bodyPr>
          <a:lstStyle/>
          <a:p>
            <a:pPr algn="l">
              <a:lnSpc>
                <a:spcPct val="100000"/>
              </a:lnSpc>
              <a:spcBef>
                <a:spcPts val="0"/>
              </a:spcBef>
              <a:spcAft>
                <a:spcPts val="600"/>
              </a:spcAft>
            </a:pPr>
            <a:r>
              <a:rPr sz="1250" b="1" i="0">
                <a:solidFill>
                  <a:srgbClr val="A8C4B1"/>
                </a:solidFill>
                <a:latin typeface="Calibri"/>
              </a:rPr>
              <a:t>Decomposed &amp; rule-bound</a:t>
            </a:r>
          </a:p>
        </p:txBody>
      </p:sp>
      <p:sp>
        <p:nvSpPr>
          <p:cNvPr id="16" name="TextBox 15"/>
          <p:cNvSpPr txBox="1"/>
          <p:nvPr/>
        </p:nvSpPr>
        <p:spPr>
          <a:xfrm>
            <a:off x="932688" y="3026664"/>
            <a:ext cx="3749040" cy="475488"/>
          </a:xfrm>
          <a:prstGeom prst="rect">
            <a:avLst/>
          </a:prstGeom>
          <a:noFill/>
        </p:spPr>
        <p:txBody>
          <a:bodyPr wrap="square" anchor="ctr" lIns="0" rIns="0" tIns="0" bIns="0">
            <a:spAutoFit/>
          </a:bodyPr>
          <a:lstStyle/>
          <a:p>
            <a:pPr algn="l">
              <a:lnSpc>
                <a:spcPct val="100000"/>
              </a:lnSpc>
              <a:spcBef>
                <a:spcPts val="0"/>
              </a:spcBef>
              <a:spcAft>
                <a:spcPts val="600"/>
              </a:spcAft>
            </a:pPr>
            <a:r>
              <a:rPr sz="1250" b="0" i="0">
                <a:solidFill>
                  <a:srgbClr val="C9C2B5"/>
                </a:solidFill>
                <a:latin typeface="Calibri"/>
              </a:rPr>
              <a:t>Claims-history comparison</a:t>
            </a:r>
          </a:p>
        </p:txBody>
      </p:sp>
      <p:sp>
        <p:nvSpPr>
          <p:cNvPr id="17" name="TextBox 16"/>
          <p:cNvSpPr txBox="1"/>
          <p:nvPr/>
        </p:nvSpPr>
        <p:spPr>
          <a:xfrm>
            <a:off x="4864608" y="3026664"/>
            <a:ext cx="3108960" cy="475488"/>
          </a:xfrm>
          <a:prstGeom prst="rect">
            <a:avLst/>
          </a:prstGeom>
          <a:noFill/>
        </p:spPr>
        <p:txBody>
          <a:bodyPr wrap="square" anchor="ctr" lIns="0" rIns="0" tIns="0" bIns="0">
            <a:spAutoFit/>
          </a:bodyPr>
          <a:lstStyle/>
          <a:p>
            <a:pPr algn="l">
              <a:lnSpc>
                <a:spcPct val="100000"/>
              </a:lnSpc>
              <a:spcBef>
                <a:spcPts val="0"/>
              </a:spcBef>
              <a:spcAft>
                <a:spcPts val="600"/>
              </a:spcAft>
            </a:pPr>
            <a:r>
              <a:rPr sz="1250" b="0" i="0">
                <a:solidFill>
                  <a:srgbClr val="E09A88"/>
                </a:solidFill>
                <a:latin typeface="Calibri"/>
              </a:rPr>
              <a:t>Generic class-level</a:t>
            </a:r>
          </a:p>
        </p:txBody>
      </p:sp>
      <p:sp>
        <p:nvSpPr>
          <p:cNvPr id="18" name="TextBox 17"/>
          <p:cNvSpPr txBox="1"/>
          <p:nvPr/>
        </p:nvSpPr>
        <p:spPr>
          <a:xfrm>
            <a:off x="8156448" y="3026664"/>
            <a:ext cx="3108960" cy="475488"/>
          </a:xfrm>
          <a:prstGeom prst="rect">
            <a:avLst/>
          </a:prstGeom>
          <a:noFill/>
        </p:spPr>
        <p:txBody>
          <a:bodyPr wrap="square" anchor="ctr" lIns="0" rIns="0" tIns="0" bIns="0">
            <a:spAutoFit/>
          </a:bodyPr>
          <a:lstStyle/>
          <a:p>
            <a:pPr algn="l">
              <a:lnSpc>
                <a:spcPct val="100000"/>
              </a:lnSpc>
              <a:spcBef>
                <a:spcPts val="0"/>
              </a:spcBef>
              <a:spcAft>
                <a:spcPts val="600"/>
              </a:spcAft>
            </a:pPr>
            <a:r>
              <a:rPr sz="1250" b="1" i="0">
                <a:solidFill>
                  <a:srgbClr val="A8C4B1"/>
                </a:solidFill>
                <a:latin typeface="Calibri"/>
              </a:rPr>
              <a:t>Similar activity-mix pattern</a:t>
            </a:r>
          </a:p>
        </p:txBody>
      </p:sp>
      <p:sp>
        <p:nvSpPr>
          <p:cNvPr id="19" name="Rectangle 18"/>
          <p:cNvSpPr/>
          <p:nvPr/>
        </p:nvSpPr>
        <p:spPr>
          <a:xfrm>
            <a:off x="822960" y="3502152"/>
            <a:ext cx="10515600" cy="475488"/>
          </a:xfrm>
          <a:prstGeom prst="rect">
            <a:avLst/>
          </a:prstGeom>
          <a:solidFill>
            <a:srgbClr val="1A20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502152"/>
            <a:ext cx="3749040" cy="475488"/>
          </a:xfrm>
          <a:prstGeom prst="rect">
            <a:avLst/>
          </a:prstGeom>
          <a:noFill/>
        </p:spPr>
        <p:txBody>
          <a:bodyPr wrap="square" anchor="ctr" lIns="0" rIns="0" tIns="0" bIns="0">
            <a:spAutoFit/>
          </a:bodyPr>
          <a:lstStyle/>
          <a:p>
            <a:pPr algn="l">
              <a:lnSpc>
                <a:spcPct val="100000"/>
              </a:lnSpc>
              <a:spcBef>
                <a:spcPts val="0"/>
              </a:spcBef>
              <a:spcAft>
                <a:spcPts val="600"/>
              </a:spcAft>
            </a:pPr>
            <a:r>
              <a:rPr sz="1250" b="0" i="0">
                <a:solidFill>
                  <a:srgbClr val="C9C2B5"/>
                </a:solidFill>
                <a:latin typeface="Calibri"/>
              </a:rPr>
              <a:t>Customer message</a:t>
            </a:r>
          </a:p>
        </p:txBody>
      </p:sp>
      <p:sp>
        <p:nvSpPr>
          <p:cNvPr id="21" name="TextBox 20"/>
          <p:cNvSpPr txBox="1"/>
          <p:nvPr/>
        </p:nvSpPr>
        <p:spPr>
          <a:xfrm>
            <a:off x="4864608" y="3502152"/>
            <a:ext cx="3108960" cy="475488"/>
          </a:xfrm>
          <a:prstGeom prst="rect">
            <a:avLst/>
          </a:prstGeom>
          <a:noFill/>
        </p:spPr>
        <p:txBody>
          <a:bodyPr wrap="square" anchor="ctr" lIns="0" rIns="0" tIns="0" bIns="0">
            <a:spAutoFit/>
          </a:bodyPr>
          <a:lstStyle/>
          <a:p>
            <a:pPr algn="l">
              <a:lnSpc>
                <a:spcPct val="100000"/>
              </a:lnSpc>
              <a:spcBef>
                <a:spcPts val="0"/>
              </a:spcBef>
              <a:spcAft>
                <a:spcPts val="600"/>
              </a:spcAft>
            </a:pPr>
            <a:r>
              <a:rPr sz="1250" b="0" i="0">
                <a:solidFill>
                  <a:srgbClr val="E09A88"/>
                </a:solidFill>
                <a:latin typeface="Calibri"/>
              </a:rPr>
              <a:t>Price-only</a:t>
            </a:r>
          </a:p>
        </p:txBody>
      </p:sp>
      <p:sp>
        <p:nvSpPr>
          <p:cNvPr id="22" name="TextBox 21"/>
          <p:cNvSpPr txBox="1"/>
          <p:nvPr/>
        </p:nvSpPr>
        <p:spPr>
          <a:xfrm>
            <a:off x="8156448" y="3502152"/>
            <a:ext cx="3108960" cy="475488"/>
          </a:xfrm>
          <a:prstGeom prst="rect">
            <a:avLst/>
          </a:prstGeom>
          <a:noFill/>
        </p:spPr>
        <p:txBody>
          <a:bodyPr wrap="square" anchor="ctr" lIns="0" rIns="0" tIns="0" bIns="0">
            <a:spAutoFit/>
          </a:bodyPr>
          <a:lstStyle/>
          <a:p>
            <a:pPr algn="l">
              <a:lnSpc>
                <a:spcPct val="100000"/>
              </a:lnSpc>
              <a:spcBef>
                <a:spcPts val="0"/>
              </a:spcBef>
              <a:spcAft>
                <a:spcPts val="600"/>
              </a:spcAft>
            </a:pPr>
            <a:r>
              <a:rPr sz="1250" b="1" i="0">
                <a:solidFill>
                  <a:srgbClr val="A8C4B1"/>
                </a:solidFill>
                <a:latin typeface="Calibri"/>
              </a:rPr>
              <a:t>Price with informed-choice rationale</a:t>
            </a:r>
          </a:p>
        </p:txBody>
      </p:sp>
      <p:sp>
        <p:nvSpPr>
          <p:cNvPr id="23" name="TextBox 22"/>
          <p:cNvSpPr txBox="1"/>
          <p:nvPr/>
        </p:nvSpPr>
        <p:spPr>
          <a:xfrm>
            <a:off x="932688" y="3977640"/>
            <a:ext cx="3749040" cy="475488"/>
          </a:xfrm>
          <a:prstGeom prst="rect">
            <a:avLst/>
          </a:prstGeom>
          <a:noFill/>
        </p:spPr>
        <p:txBody>
          <a:bodyPr wrap="square" anchor="ctr" lIns="0" rIns="0" tIns="0" bIns="0">
            <a:spAutoFit/>
          </a:bodyPr>
          <a:lstStyle/>
          <a:p>
            <a:pPr algn="l">
              <a:lnSpc>
                <a:spcPct val="100000"/>
              </a:lnSpc>
              <a:spcBef>
                <a:spcPts val="0"/>
              </a:spcBef>
              <a:spcAft>
                <a:spcPts val="600"/>
              </a:spcAft>
            </a:pPr>
            <a:r>
              <a:rPr sz="1250" b="0" i="0">
                <a:solidFill>
                  <a:srgbClr val="C9C2B5"/>
                </a:solidFill>
                <a:latin typeface="Calibri"/>
              </a:rPr>
              <a:t>Reproducibility across runs</a:t>
            </a:r>
          </a:p>
        </p:txBody>
      </p:sp>
      <p:sp>
        <p:nvSpPr>
          <p:cNvPr id="24" name="TextBox 23"/>
          <p:cNvSpPr txBox="1"/>
          <p:nvPr/>
        </p:nvSpPr>
        <p:spPr>
          <a:xfrm>
            <a:off x="4864608" y="3977640"/>
            <a:ext cx="3108960" cy="475488"/>
          </a:xfrm>
          <a:prstGeom prst="rect">
            <a:avLst/>
          </a:prstGeom>
          <a:noFill/>
        </p:spPr>
        <p:txBody>
          <a:bodyPr wrap="square" anchor="ctr" lIns="0" rIns="0" tIns="0" bIns="0">
            <a:spAutoFit/>
          </a:bodyPr>
          <a:lstStyle/>
          <a:p>
            <a:pPr algn="l">
              <a:lnSpc>
                <a:spcPct val="100000"/>
              </a:lnSpc>
              <a:spcBef>
                <a:spcPts val="0"/>
              </a:spcBef>
              <a:spcAft>
                <a:spcPts val="600"/>
              </a:spcAft>
            </a:pPr>
            <a:r>
              <a:rPr sz="1250" b="0" i="0">
                <a:solidFill>
                  <a:srgbClr val="E09A88"/>
                </a:solidFill>
                <a:latin typeface="Calibri"/>
              </a:rPr>
              <a:t>Probabilistic</a:t>
            </a:r>
          </a:p>
        </p:txBody>
      </p:sp>
      <p:sp>
        <p:nvSpPr>
          <p:cNvPr id="25" name="TextBox 24"/>
          <p:cNvSpPr txBox="1"/>
          <p:nvPr/>
        </p:nvSpPr>
        <p:spPr>
          <a:xfrm>
            <a:off x="8156448" y="3977640"/>
            <a:ext cx="3108960" cy="475488"/>
          </a:xfrm>
          <a:prstGeom prst="rect">
            <a:avLst/>
          </a:prstGeom>
          <a:noFill/>
        </p:spPr>
        <p:txBody>
          <a:bodyPr wrap="square" anchor="ctr" lIns="0" rIns="0" tIns="0" bIns="0">
            <a:spAutoFit/>
          </a:bodyPr>
          <a:lstStyle/>
          <a:p>
            <a:pPr algn="l">
              <a:lnSpc>
                <a:spcPct val="100000"/>
              </a:lnSpc>
              <a:spcBef>
                <a:spcPts val="0"/>
              </a:spcBef>
              <a:spcAft>
                <a:spcPts val="600"/>
              </a:spcAft>
            </a:pPr>
            <a:r>
              <a:rPr sz="1250" b="1" i="0">
                <a:solidFill>
                  <a:srgbClr val="A8C4B1"/>
                </a:solidFill>
                <a:latin typeface="Calibri"/>
              </a:rPr>
              <a:t>Deterministic</a:t>
            </a:r>
          </a:p>
        </p:txBody>
      </p:sp>
      <p:sp>
        <p:nvSpPr>
          <p:cNvPr id="26" name="Rectangle 25"/>
          <p:cNvSpPr/>
          <p:nvPr/>
        </p:nvSpPr>
        <p:spPr>
          <a:xfrm>
            <a:off x="822960" y="4453128"/>
            <a:ext cx="10515600" cy="475488"/>
          </a:xfrm>
          <a:prstGeom prst="rect">
            <a:avLst/>
          </a:prstGeom>
          <a:solidFill>
            <a:srgbClr val="1A20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453128"/>
            <a:ext cx="3749040" cy="475488"/>
          </a:xfrm>
          <a:prstGeom prst="rect">
            <a:avLst/>
          </a:prstGeom>
          <a:noFill/>
        </p:spPr>
        <p:txBody>
          <a:bodyPr wrap="square" anchor="ctr" lIns="0" rIns="0" tIns="0" bIns="0">
            <a:spAutoFit/>
          </a:bodyPr>
          <a:lstStyle/>
          <a:p>
            <a:pPr algn="l">
              <a:lnSpc>
                <a:spcPct val="100000"/>
              </a:lnSpc>
              <a:spcBef>
                <a:spcPts val="0"/>
              </a:spcBef>
              <a:spcAft>
                <a:spcPts val="600"/>
              </a:spcAft>
            </a:pPr>
            <a:r>
              <a:rPr sz="1250" b="0" i="0">
                <a:solidFill>
                  <a:srgbClr val="C9C2B5"/>
                </a:solidFill>
                <a:latin typeface="Calibri"/>
              </a:rPr>
              <a:t>Auditable rationale</a:t>
            </a:r>
          </a:p>
        </p:txBody>
      </p:sp>
      <p:sp>
        <p:nvSpPr>
          <p:cNvPr id="28" name="TextBox 27"/>
          <p:cNvSpPr txBox="1"/>
          <p:nvPr/>
        </p:nvSpPr>
        <p:spPr>
          <a:xfrm>
            <a:off x="4864608" y="4453128"/>
            <a:ext cx="3108960" cy="475488"/>
          </a:xfrm>
          <a:prstGeom prst="rect">
            <a:avLst/>
          </a:prstGeom>
          <a:noFill/>
        </p:spPr>
        <p:txBody>
          <a:bodyPr wrap="square" anchor="ctr" lIns="0" rIns="0" tIns="0" bIns="0">
            <a:spAutoFit/>
          </a:bodyPr>
          <a:lstStyle/>
          <a:p>
            <a:pPr algn="l">
              <a:lnSpc>
                <a:spcPct val="100000"/>
              </a:lnSpc>
              <a:spcBef>
                <a:spcPts val="0"/>
              </a:spcBef>
              <a:spcAft>
                <a:spcPts val="600"/>
              </a:spcAft>
            </a:pPr>
            <a:r>
              <a:rPr sz="1250" b="0" i="0">
                <a:solidFill>
                  <a:srgbClr val="E09A88"/>
                </a:solidFill>
                <a:latin typeface="Calibri"/>
              </a:rPr>
              <a:t>Retrieved citations</a:t>
            </a:r>
          </a:p>
        </p:txBody>
      </p:sp>
      <p:sp>
        <p:nvSpPr>
          <p:cNvPr id="29" name="TextBox 28"/>
          <p:cNvSpPr txBox="1"/>
          <p:nvPr/>
        </p:nvSpPr>
        <p:spPr>
          <a:xfrm>
            <a:off x="8156448" y="4453128"/>
            <a:ext cx="3108960" cy="475488"/>
          </a:xfrm>
          <a:prstGeom prst="rect">
            <a:avLst/>
          </a:prstGeom>
          <a:noFill/>
        </p:spPr>
        <p:txBody>
          <a:bodyPr wrap="square" anchor="ctr" lIns="0" rIns="0" tIns="0" bIns="0">
            <a:spAutoFit/>
          </a:bodyPr>
          <a:lstStyle/>
          <a:p>
            <a:pPr algn="l">
              <a:lnSpc>
                <a:spcPct val="100000"/>
              </a:lnSpc>
              <a:spcBef>
                <a:spcPts val="0"/>
              </a:spcBef>
              <a:spcAft>
                <a:spcPts val="600"/>
              </a:spcAft>
            </a:pPr>
            <a:r>
              <a:rPr sz="1250" b="1" i="0">
                <a:solidFill>
                  <a:srgbClr val="A8C4B1"/>
                </a:solidFill>
                <a:latin typeface="Calibri"/>
              </a:rPr>
              <a:t>Proof tree</a:t>
            </a:r>
          </a:p>
        </p:txBody>
      </p:sp>
      <p:sp>
        <p:nvSpPr>
          <p:cNvPr id="30" name="Rectangle 29"/>
          <p:cNvSpPr/>
          <p:nvPr/>
        </p:nvSpPr>
        <p:spPr>
          <a:xfrm>
            <a:off x="822960" y="5157216"/>
            <a:ext cx="10515600" cy="1051560"/>
          </a:xfrm>
          <a:prstGeom prst="rect">
            <a:avLst/>
          </a:prstGeom>
          <a:solidFill>
            <a:srgbClr val="1A2027"/>
          </a:solidFill>
          <a:ln w="12700">
            <a:solidFill>
              <a:srgbClr val="C8A9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7280" y="5276088"/>
            <a:ext cx="10058400" cy="822960"/>
          </a:xfrm>
          <a:prstGeom prst="rect">
            <a:avLst/>
          </a:prstGeom>
          <a:noFill/>
        </p:spPr>
        <p:txBody>
          <a:bodyPr wrap="square" anchor="t" lIns="0" rIns="0" tIns="0" bIns="0">
            <a:spAutoFit/>
          </a:bodyPr>
          <a:lstStyle/>
          <a:p>
            <a:pPr algn="l">
              <a:lnSpc>
                <a:spcPct val="115000"/>
              </a:lnSpc>
              <a:spcBef>
                <a:spcPts val="0"/>
              </a:spcBef>
              <a:spcAft>
                <a:spcPts val="600"/>
              </a:spcAft>
            </a:pPr>
            <a:r>
              <a:rPr sz="1500" b="1" i="0">
                <a:solidFill>
                  <a:srgbClr val="C8A951"/>
                </a:solidFill>
                <a:latin typeface="Calibri"/>
              </a:rPr>
              <a:t>Bottom line.  </a:t>
            </a:r>
            <a:r>
              <a:rPr sz="1300" b="0" i="0">
                <a:solidFill>
                  <a:srgbClr val="F4EFE6"/>
                </a:solidFill>
                <a:latin typeface="Calibri"/>
              </a:rPr>
              <a:t>Verisk estimates small-commercial misclassification drives up to $6.5B in first-year premium leakage and more than $22B over four years in BOP premium alone. A DTC flow that takes the self-description at face value </a:t>
            </a:r>
            <a:r>
              <a:rPr sz="1300" b="0" i="1">
                <a:solidFill>
                  <a:srgbClr val="F4EFE6"/>
                </a:solidFill>
                <a:latin typeface="Calibri"/>
              </a:rPr>
              <a:t>is</a:t>
            </a:r>
            <a:r>
              <a:rPr sz="1300" b="0" i="0">
                <a:solidFill>
                  <a:srgbClr val="F4EFE6"/>
                </a:solidFill>
                <a:latin typeface="Calibri"/>
              </a:rPr>
              <a:t> the leakage. NSAI keeps the speed and adds the underwriting judgment.</a:t>
            </a:r>
          </a:p>
        </p:txBody>
      </p:sp>
      <p:sp>
        <p:nvSpPr>
          <p:cNvPr id="32" name="TextBox 31"/>
          <p:cNvSpPr txBox="1"/>
          <p:nvPr/>
        </p:nvSpPr>
        <p:spPr>
          <a:xfrm>
            <a:off x="822960" y="6510528"/>
            <a:ext cx="10515600" cy="274320"/>
          </a:xfrm>
          <a:prstGeom prst="rect">
            <a:avLst/>
          </a:prstGeom>
          <a:noFill/>
        </p:spPr>
        <p:txBody>
          <a:bodyPr wrap="square" anchor="t" lIns="0" rIns="0" tIns="0" bIns="0">
            <a:spAutoFit/>
          </a:bodyPr>
          <a:lstStyle/>
          <a:p>
            <a:pPr algn="l">
              <a:lnSpc>
                <a:spcPct val="100000"/>
              </a:lnSpc>
              <a:spcBef>
                <a:spcPts val="0"/>
              </a:spcBef>
              <a:spcAft>
                <a:spcPts val="600"/>
              </a:spcAft>
            </a:pPr>
            <a:r>
              <a:rPr sz="900" b="0" i="1">
                <a:solidFill>
                  <a:srgbClr val="6B6458"/>
                </a:solidFill>
                <a:latin typeface="Calibri"/>
              </a:rPr>
              <a:t>Source: Verisk LightSpeed Small Commercial materials and Verisk analysis of small-commercial SIC/NAICS misclassification. Carrier, insured, rules, and figures are illustrative.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bg>
      <p:bgPr>
        <a:solidFill>
          <a:srgbClr val="F4EFE6"/>
        </a:solidFill>
        <a:effectLst/>
      </p:bgPr>
    </p:bg>
    <p:spTree>
      <p:nvGrpSpPr>
        <p:cNvPr id="1" name=""/>
        <p:cNvGrpSpPr/>
        <p:nvPr/>
      </p:nvGrpSpPr>
      <p:grpSpPr/>
      <p:sp>
        <p:nvSpPr>
          <p:cNvPr id="2" name="TextBox 1"/>
          <p:cNvSpPr txBox="1"/>
          <p:nvPr/>
        </p:nvSpPr>
        <p:spPr>
          <a:xfrm>
            <a:off x="640080" y="384048"/>
            <a:ext cx="10972800" cy="274320"/>
          </a:xfrm>
          <a:prstGeom prst="rect">
            <a:avLst/>
          </a:prstGeom>
          <a:noFill/>
        </p:spPr>
        <p:txBody>
          <a:bodyPr wrap="square" anchor="t" lIns="25400" rIns="25400" tIns="25400" bIns="25400">
            <a:spAutoFit/>
          </a:bodyPr>
          <a:lstStyle/>
          <a:p>
            <a:pPr algn="l">
              <a:lnSpc>
                <a:spcPct val="105000"/>
              </a:lnSpc>
              <a:spcBef>
                <a:spcPts val="0"/>
              </a:spcBef>
              <a:spcAft>
                <a:spcPts val="700"/>
              </a:spcAft>
            </a:pPr>
            <a:r>
              <a:rPr sz="1100" b="1" i="0">
                <a:solidFill>
                  <a:srgbClr val="C8A951"/>
                </a:solidFill>
                <a:latin typeface="Calibri"/>
              </a:rPr>
              <a:t>APPENDIX  ·  RAG RETRIEVAL — WHAT IT PULLED VS. WHAT IT OVERLOOKED</a:t>
            </a:r>
          </a:p>
        </p:txBody>
      </p:sp>
      <p:sp>
        <p:nvSpPr>
          <p:cNvPr id="3" name="TextBox 2"/>
          <p:cNvSpPr txBox="1"/>
          <p:nvPr/>
        </p:nvSpPr>
        <p:spPr>
          <a:xfrm>
            <a:off x="640080" y="694944"/>
            <a:ext cx="10972800" cy="502920"/>
          </a:xfrm>
          <a:prstGeom prst="rect">
            <a:avLst/>
          </a:prstGeom>
          <a:noFill/>
        </p:spPr>
        <p:txBody>
          <a:bodyPr wrap="square" anchor="t" lIns="25400" rIns="25400" tIns="25400" bIns="25400">
            <a:spAutoFit/>
          </a:bodyPr>
          <a:lstStyle/>
          <a:p>
            <a:pPr algn="l">
              <a:lnSpc>
                <a:spcPct val="105000"/>
              </a:lnSpc>
              <a:spcBef>
                <a:spcPts val="0"/>
              </a:spcBef>
              <a:spcAft>
                <a:spcPts val="700"/>
              </a:spcAft>
            </a:pPr>
            <a:r>
              <a:rPr sz="2500" b="0" i="0">
                <a:solidFill>
                  <a:srgbClr val="0F1419"/>
                </a:solidFill>
                <a:latin typeface="Georgia"/>
              </a:rPr>
              <a:t>The exclusions were in the guide the whole time.</a:t>
            </a:r>
          </a:p>
        </p:txBody>
      </p:sp>
      <p:sp>
        <p:nvSpPr>
          <p:cNvPr id="4" name="Rectangle 3"/>
          <p:cNvSpPr/>
          <p:nvPr/>
        </p:nvSpPr>
        <p:spPr>
          <a:xfrm>
            <a:off x="640080" y="1444752"/>
            <a:ext cx="5806440" cy="402336"/>
          </a:xfrm>
          <a:prstGeom prst="rect">
            <a:avLst/>
          </a:prstGeom>
          <a:solidFill>
            <a:srgbClr val="2A3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463040"/>
            <a:ext cx="5532120" cy="365760"/>
          </a:xfrm>
          <a:prstGeom prst="rect">
            <a:avLst/>
          </a:prstGeom>
          <a:noFill/>
        </p:spPr>
        <p:txBody>
          <a:bodyPr wrap="square" anchor="ctr" lIns="25400" rIns="25400" tIns="25400" bIns="25400">
            <a:spAutoFit/>
          </a:bodyPr>
          <a:lstStyle/>
          <a:p>
            <a:pPr algn="l">
              <a:lnSpc>
                <a:spcPct val="105000"/>
              </a:lnSpc>
              <a:spcBef>
                <a:spcPts val="0"/>
              </a:spcBef>
              <a:spcAft>
                <a:spcPts val="700"/>
              </a:spcAft>
            </a:pPr>
            <a:r>
              <a:rPr sz="1200" b="1" i="0">
                <a:solidFill>
                  <a:srgbClr val="FFFFFF"/>
                </a:solidFill>
                <a:latin typeface="Calibri"/>
              </a:rPr>
              <a:t>WHAT VECTOR SEARCH RETRIEVED  ·  8 PASSAGES</a:t>
            </a:r>
          </a:p>
        </p:txBody>
      </p:sp>
      <p:sp>
        <p:nvSpPr>
          <p:cNvPr id="6" name="Rectangle 5"/>
          <p:cNvSpPr/>
          <p:nvPr/>
        </p:nvSpPr>
        <p:spPr>
          <a:xfrm>
            <a:off x="640080" y="1847088"/>
            <a:ext cx="5806440" cy="3575303"/>
          </a:xfrm>
          <a:prstGeom prst="rect">
            <a:avLst/>
          </a:prstGeom>
          <a:solidFill>
            <a:srgbClr val="FFFFFF"/>
          </a:solidFill>
          <a:ln w="12700">
            <a:solidFill>
              <a:srgbClr val="ECE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956816"/>
            <a:ext cx="5404104" cy="3374135"/>
          </a:xfrm>
          <a:prstGeom prst="rect">
            <a:avLst/>
          </a:prstGeom>
          <a:noFill/>
        </p:spPr>
        <p:txBody>
          <a:bodyPr wrap="square" anchor="t" lIns="25400" rIns="25400" tIns="25400" bIns="25400">
            <a:spAutoFit/>
          </a:bodyPr>
          <a:lstStyle/>
          <a:p>
            <a:pPr algn="l">
              <a:lnSpc>
                <a:spcPct val="100000"/>
              </a:lnSpc>
              <a:spcBef>
                <a:spcPts val="0"/>
              </a:spcBef>
              <a:spcAft>
                <a:spcPts val="350"/>
              </a:spcAft>
            </a:pPr>
            <a:r>
              <a:rPr sz="950" b="1" i="0">
                <a:solidFill>
                  <a:srgbClr val="3F5E4A"/>
                </a:solidFill>
                <a:latin typeface="Calibri"/>
              </a:rPr>
              <a:t>PASS 1 · APPETITE GUIDE (5)</a:t>
            </a:r>
          </a:p>
          <a:p>
            <a:pPr algn="l">
              <a:lnSpc>
                <a:spcPct val="100000"/>
              </a:lnSpc>
              <a:spcBef>
                <a:spcPts val="0"/>
              </a:spcBef>
              <a:spcAft>
                <a:spcPts val="350"/>
              </a:spcAft>
            </a:pPr>
            <a:r>
              <a:rPr sz="1050" b="1" i="0">
                <a:solidFill>
                  <a:srgbClr val="3F5E4A"/>
                </a:solidFill>
                <a:latin typeface="Consolas"/>
              </a:rPr>
              <a:t>§2.4  </a:t>
            </a:r>
            <a:r>
              <a:rPr sz="1050" b="0" i="0">
                <a:solidFill>
                  <a:srgbClr val="2A3340"/>
                </a:solidFill>
                <a:latin typeface="Calibri"/>
              </a:rPr>
              <a:t>handyman, rev &lt; $250K → in appetite, auto-bind</a:t>
            </a:r>
          </a:p>
          <a:p>
            <a:pPr algn="l">
              <a:lnSpc>
                <a:spcPct val="100000"/>
              </a:lnSpc>
              <a:spcBef>
                <a:spcPts val="0"/>
              </a:spcBef>
              <a:spcAft>
                <a:spcPts val="350"/>
              </a:spcAft>
            </a:pPr>
            <a:r>
              <a:rPr sz="1050" b="1" i="0">
                <a:solidFill>
                  <a:srgbClr val="3F5E4A"/>
                </a:solidFill>
                <a:latin typeface="Consolas"/>
              </a:rPr>
              <a:t>§2.4.1  </a:t>
            </a:r>
            <a:r>
              <a:rPr sz="1050" b="0" i="0">
                <a:solidFill>
                  <a:srgbClr val="2A3340"/>
                </a:solidFill>
                <a:latin typeface="Calibri"/>
              </a:rPr>
              <a:t>eligible: drywall, fixtures, bath/kitchen, interior paint</a:t>
            </a:r>
          </a:p>
          <a:p>
            <a:pPr algn="l">
              <a:lnSpc>
                <a:spcPct val="100000"/>
              </a:lnSpc>
              <a:spcBef>
                <a:spcPts val="0"/>
              </a:spcBef>
              <a:spcAft>
                <a:spcPts val="350"/>
              </a:spcAft>
            </a:pPr>
            <a:r>
              <a:rPr sz="1050" b="1" i="0">
                <a:solidFill>
                  <a:srgbClr val="3F5E4A"/>
                </a:solidFill>
                <a:latin typeface="Consolas"/>
              </a:rPr>
              <a:t>§1.2  </a:t>
            </a:r>
            <a:r>
              <a:rPr sz="1050" b="0" i="0">
                <a:solidFill>
                  <a:srgbClr val="2A3340"/>
                </a:solidFill>
                <a:latin typeface="Calibri"/>
              </a:rPr>
              <a:t>Arizona: admitted, streamlined, no surcharge</a:t>
            </a:r>
          </a:p>
          <a:p>
            <a:pPr algn="l">
              <a:lnSpc>
                <a:spcPct val="100000"/>
              </a:lnSpc>
              <a:spcBef>
                <a:spcPts val="0"/>
              </a:spcBef>
              <a:spcAft>
                <a:spcPts val="350"/>
              </a:spcAft>
            </a:pPr>
            <a:r>
              <a:rPr sz="1050" b="1" i="0">
                <a:solidFill>
                  <a:srgbClr val="3F5E4A"/>
                </a:solidFill>
                <a:latin typeface="Consolas"/>
              </a:rPr>
              <a:t>§3.1  </a:t>
            </a:r>
            <a:r>
              <a:rPr sz="1050" b="0" i="0">
                <a:solidFill>
                  <a:srgbClr val="2A3340"/>
                </a:solidFill>
                <a:latin typeface="Calibri"/>
              </a:rPr>
              <a:t>sole prop / owner + ≤3 helpers eligible</a:t>
            </a:r>
          </a:p>
          <a:p>
            <a:pPr algn="l">
              <a:lnSpc>
                <a:spcPct val="100000"/>
              </a:lnSpc>
              <a:spcBef>
                <a:spcPts val="0"/>
              </a:spcBef>
              <a:spcAft>
                <a:spcPts val="350"/>
              </a:spcAft>
            </a:pPr>
            <a:r>
              <a:rPr sz="1050" b="1" i="0">
                <a:solidFill>
                  <a:srgbClr val="3F5E4A"/>
                </a:solidFill>
                <a:latin typeface="Consolas"/>
              </a:rPr>
              <a:t>§2.0  </a:t>
            </a:r>
            <a:r>
              <a:rPr sz="1050" b="0" i="0">
                <a:solidFill>
                  <a:srgbClr val="2A3340"/>
                </a:solidFill>
                <a:latin typeface="Calibri"/>
              </a:rPr>
              <a:t>DTC: in-appetite classes get an instant bindable quote</a:t>
            </a:r>
          </a:p>
          <a:p>
            <a:pPr algn="l">
              <a:lnSpc>
                <a:spcPct val="100000"/>
              </a:lnSpc>
              <a:spcBef>
                <a:spcPts val="0"/>
              </a:spcBef>
              <a:spcAft>
                <a:spcPts val="350"/>
              </a:spcAft>
            </a:pPr>
            <a:r>
              <a:rPr sz="950" b="1" i="0">
                <a:solidFill>
                  <a:srgbClr val="3F5E4A"/>
                </a:solidFill>
                <a:latin typeface="Calibri"/>
              </a:rPr>
              <a:t>PASS 2 · RATE MANUAL + COVERAGE DEFAULTS (3)</a:t>
            </a:r>
          </a:p>
          <a:p>
            <a:pPr algn="l">
              <a:lnSpc>
                <a:spcPct val="100000"/>
              </a:lnSpc>
              <a:spcBef>
                <a:spcPts val="0"/>
              </a:spcBef>
              <a:spcAft>
                <a:spcPts val="350"/>
              </a:spcAft>
            </a:pPr>
            <a:r>
              <a:rPr sz="1050" b="1" i="0">
                <a:solidFill>
                  <a:srgbClr val="3F5E4A"/>
                </a:solidFill>
                <a:latin typeface="Consolas"/>
              </a:rPr>
              <a:t>§AZ-4  </a:t>
            </a:r>
            <a:r>
              <a:rPr sz="1050" b="0" i="0">
                <a:solidFill>
                  <a:srgbClr val="2A3340"/>
                </a:solidFill>
                <a:latin typeface="Calibri"/>
              </a:rPr>
              <a:t>rate band B2, streamlined BOP</a:t>
            </a:r>
          </a:p>
          <a:p>
            <a:pPr algn="l">
              <a:lnSpc>
                <a:spcPct val="100000"/>
              </a:lnSpc>
              <a:spcBef>
                <a:spcPts val="0"/>
              </a:spcBef>
              <a:spcAft>
                <a:spcPts val="350"/>
              </a:spcAft>
            </a:pPr>
            <a:r>
              <a:rPr sz="1050" b="1" i="0">
                <a:solidFill>
                  <a:srgbClr val="3F5E4A"/>
                </a:solidFill>
                <a:latin typeface="Consolas"/>
              </a:rPr>
              <a:t>§AZ-4.3  </a:t>
            </a:r>
            <a:r>
              <a:rPr sz="1050" b="0" i="0">
                <a:solidFill>
                  <a:srgbClr val="2A3340"/>
                </a:solidFill>
                <a:latin typeface="Calibri"/>
              </a:rPr>
              <a:t>typical bound premium $1,700–$2,000</a:t>
            </a:r>
          </a:p>
          <a:p>
            <a:pPr algn="l">
              <a:lnSpc>
                <a:spcPct val="100000"/>
              </a:lnSpc>
              <a:spcBef>
                <a:spcPts val="0"/>
              </a:spcBef>
              <a:spcAft>
                <a:spcPts val="350"/>
              </a:spcAft>
            </a:pPr>
            <a:r>
              <a:rPr sz="1050" b="1" i="0">
                <a:solidFill>
                  <a:srgbClr val="3F5E4A"/>
                </a:solidFill>
                <a:latin typeface="Consolas"/>
              </a:rPr>
              <a:t>§DTC-1  </a:t>
            </a:r>
            <a:r>
              <a:rPr sz="1050" b="0" i="0">
                <a:solidFill>
                  <a:srgbClr val="2A3340"/>
                </a:solidFill>
                <a:latin typeface="Calibri"/>
              </a:rPr>
              <a:t>defaults: $1M/$2M GL, $10K tools, $25K AOP</a:t>
            </a:r>
          </a:p>
          <a:p>
            <a:pPr algn="l">
              <a:lnSpc>
                <a:spcPct val="100000"/>
              </a:lnSpc>
              <a:spcBef>
                <a:spcPts val="0"/>
              </a:spcBef>
              <a:spcAft>
                <a:spcPts val="350"/>
              </a:spcAft>
            </a:pPr>
            <a:r>
              <a:rPr sz="1050" b="1" i="0">
                <a:solidFill>
                  <a:srgbClr val="0F1419"/>
                </a:solidFill>
                <a:latin typeface="Calibri"/>
              </a:rPr>
              <a:t>→ All eight reinforce one answer: </a:t>
            </a:r>
            <a:r>
              <a:rPr sz="1050" b="0" i="1">
                <a:solidFill>
                  <a:srgbClr val="0F1419"/>
                </a:solidFill>
                <a:latin typeface="Calibri"/>
              </a:rPr>
              <a:t>“handyman, in appetite, bind today.”</a:t>
            </a:r>
          </a:p>
        </p:txBody>
      </p:sp>
      <p:sp>
        <p:nvSpPr>
          <p:cNvPr id="8" name="Rectangle 7"/>
          <p:cNvSpPr/>
          <p:nvPr/>
        </p:nvSpPr>
        <p:spPr>
          <a:xfrm>
            <a:off x="6629400" y="1444752"/>
            <a:ext cx="4892040" cy="402336"/>
          </a:xfrm>
          <a:prstGeom prst="rect">
            <a:avLst/>
          </a:prstGeom>
          <a:solidFill>
            <a:srgbClr val="B84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93992" y="1463040"/>
            <a:ext cx="4617720" cy="365760"/>
          </a:xfrm>
          <a:prstGeom prst="rect">
            <a:avLst/>
          </a:prstGeom>
          <a:noFill/>
        </p:spPr>
        <p:txBody>
          <a:bodyPr wrap="square" anchor="ctr" lIns="25400" rIns="25400" tIns="25400" bIns="25400">
            <a:spAutoFit/>
          </a:bodyPr>
          <a:lstStyle/>
          <a:p>
            <a:pPr algn="l">
              <a:lnSpc>
                <a:spcPct val="105000"/>
              </a:lnSpc>
              <a:spcBef>
                <a:spcPts val="0"/>
              </a:spcBef>
              <a:spcAft>
                <a:spcPts val="700"/>
              </a:spcAft>
            </a:pPr>
            <a:r>
              <a:rPr sz="1200" b="1" i="0">
                <a:solidFill>
                  <a:srgbClr val="FFFFFF"/>
                </a:solidFill>
                <a:latin typeface="Calibri"/>
              </a:rPr>
              <a:t>IN THE SAME GUIDE — NEVER APPLIED</a:t>
            </a:r>
          </a:p>
        </p:txBody>
      </p:sp>
      <p:sp>
        <p:nvSpPr>
          <p:cNvPr id="10" name="Rectangle 9"/>
          <p:cNvSpPr/>
          <p:nvPr/>
        </p:nvSpPr>
        <p:spPr>
          <a:xfrm>
            <a:off x="6629400" y="1847088"/>
            <a:ext cx="4892040" cy="3575303"/>
          </a:xfrm>
          <a:prstGeom prst="rect">
            <a:avLst/>
          </a:prstGeom>
          <a:solidFill>
            <a:srgbClr val="FFFFFF"/>
          </a:solidFill>
          <a:ln w="12700">
            <a:solidFill>
              <a:srgbClr val="ECE5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30568" y="1993392"/>
            <a:ext cx="4489704" cy="3337559"/>
          </a:xfrm>
          <a:prstGeom prst="rect">
            <a:avLst/>
          </a:prstGeom>
          <a:noFill/>
        </p:spPr>
        <p:txBody>
          <a:bodyPr wrap="square" anchor="t" lIns="25400" rIns="25400" tIns="25400" bIns="25400">
            <a:spAutoFit/>
          </a:bodyPr>
          <a:lstStyle/>
          <a:p>
            <a:pPr algn="l">
              <a:lnSpc>
                <a:spcPct val="112000"/>
              </a:lnSpc>
              <a:spcBef>
                <a:spcPts val="0"/>
              </a:spcBef>
              <a:spcAft>
                <a:spcPts val="800"/>
              </a:spcAft>
            </a:pPr>
            <a:r>
              <a:rPr sz="1100" b="1" i="0">
                <a:solidFill>
                  <a:srgbClr val="B8442E"/>
                </a:solidFill>
                <a:latin typeface="Consolas"/>
              </a:rPr>
              <a:t>§2.6  </a:t>
            </a:r>
            <a:r>
              <a:rPr sz="1150" b="0" i="0">
                <a:solidFill>
                  <a:srgbClr val="2A3340"/>
                </a:solidFill>
                <a:latin typeface="Calibri"/>
              </a:rPr>
              <a:t>Water-heater / plumbing → water-damage exposure to landlord property. In appetite </a:t>
            </a:r>
            <a:r>
              <a:rPr sz="1150" b="1" i="0">
                <a:solidFill>
                  <a:srgbClr val="2A3340"/>
                </a:solidFill>
                <a:latin typeface="Calibri"/>
              </a:rPr>
              <a:t>only with water-damage terms / sublimit</a:t>
            </a:r>
            <a:r>
              <a:rPr sz="1150" b="0" i="0">
                <a:solidFill>
                  <a:srgbClr val="2A3340"/>
                </a:solidFill>
                <a:latin typeface="Calibri"/>
              </a:rPr>
              <a:t>.</a:t>
            </a:r>
          </a:p>
          <a:p>
            <a:pPr algn="l">
              <a:lnSpc>
                <a:spcPct val="112000"/>
              </a:lnSpc>
              <a:spcBef>
                <a:spcPts val="0"/>
              </a:spcBef>
              <a:spcAft>
                <a:spcPts val="800"/>
              </a:spcAft>
            </a:pPr>
            <a:r>
              <a:rPr sz="600" b="0" i="0">
                <a:solidFill>
                  <a:srgbClr val="2A3340"/>
                </a:solidFill>
                <a:latin typeface="Calibri"/>
              </a:rPr>
              <a:t/>
            </a:r>
          </a:p>
          <a:p>
            <a:pPr algn="l">
              <a:lnSpc>
                <a:spcPct val="112000"/>
              </a:lnSpc>
              <a:spcBef>
                <a:spcPts val="0"/>
              </a:spcBef>
              <a:spcAft>
                <a:spcPts val="800"/>
              </a:spcAft>
            </a:pPr>
            <a:r>
              <a:rPr sz="1100" b="1" i="0">
                <a:solidFill>
                  <a:srgbClr val="B8442E"/>
                </a:solidFill>
                <a:latin typeface="Consolas"/>
              </a:rPr>
              <a:t>§2.7  </a:t>
            </a:r>
            <a:r>
              <a:rPr sz="1150" b="0" i="0">
                <a:solidFill>
                  <a:srgbClr val="2A3340"/>
                </a:solidFill>
                <a:latin typeface="Calibri"/>
              </a:rPr>
              <a:t>Roof-surface work — leak patching, shingle repair, work from a roof — carries height/fall exposure and is </a:t>
            </a:r>
            <a:r>
              <a:rPr sz="1150" b="1" i="0">
                <a:solidFill>
                  <a:srgbClr val="2A3340"/>
                </a:solidFill>
                <a:latin typeface="Calibri"/>
              </a:rPr>
              <a:t>outside standard DTC handyman appetite</a:t>
            </a:r>
            <a:r>
              <a:rPr sz="1150" b="0" i="0">
                <a:solidFill>
                  <a:srgbClr val="2A3340"/>
                </a:solidFill>
                <a:latin typeface="Calibri"/>
              </a:rPr>
              <a:t> → specialty UW.</a:t>
            </a:r>
          </a:p>
          <a:p>
            <a:pPr algn="l">
              <a:lnSpc>
                <a:spcPct val="112000"/>
              </a:lnSpc>
              <a:spcBef>
                <a:spcPts val="0"/>
              </a:spcBef>
              <a:spcAft>
                <a:spcPts val="800"/>
              </a:spcAft>
            </a:pPr>
            <a:r>
              <a:rPr sz="600" b="0" i="0">
                <a:solidFill>
                  <a:srgbClr val="2A3340"/>
                </a:solidFill>
                <a:latin typeface="Calibri"/>
              </a:rPr>
              <a:t/>
            </a:r>
          </a:p>
          <a:p>
            <a:pPr algn="l">
              <a:lnSpc>
                <a:spcPct val="112000"/>
              </a:lnSpc>
              <a:spcBef>
                <a:spcPts val="0"/>
              </a:spcBef>
              <a:spcAft>
                <a:spcPts val="800"/>
              </a:spcAft>
            </a:pPr>
            <a:r>
              <a:rPr sz="1150" b="1" i="0">
                <a:solidFill>
                  <a:srgbClr val="0F1419"/>
                </a:solidFill>
                <a:latin typeface="Calibri"/>
              </a:rPr>
              <a:t>→ The query was “handyman,” so §2.4 ranked first; §2.6 and §2.7 never surfaced.</a:t>
            </a:r>
          </a:p>
        </p:txBody>
      </p:sp>
      <p:sp>
        <p:nvSpPr>
          <p:cNvPr id="12" name="Rectangle 11"/>
          <p:cNvSpPr/>
          <p:nvPr/>
        </p:nvSpPr>
        <p:spPr>
          <a:xfrm>
            <a:off x="640080" y="5586983"/>
            <a:ext cx="10881360" cy="841248"/>
          </a:xfrm>
          <a:prstGeom prst="rect">
            <a:avLst/>
          </a:prstGeom>
          <a:solidFill>
            <a:srgbClr val="ECE5D6"/>
          </a:solidFill>
          <a:ln w="12700">
            <a:solidFill>
              <a:srgbClr val="C8A9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696711"/>
            <a:ext cx="10424160" cy="640080"/>
          </a:xfrm>
          <a:prstGeom prst="rect">
            <a:avLst/>
          </a:prstGeom>
          <a:noFill/>
        </p:spPr>
        <p:txBody>
          <a:bodyPr wrap="square" anchor="t" lIns="25400" rIns="25400" tIns="25400" bIns="25400">
            <a:spAutoFit/>
          </a:bodyPr>
          <a:lstStyle/>
          <a:p>
            <a:pPr algn="l">
              <a:lnSpc>
                <a:spcPct val="112000"/>
              </a:lnSpc>
              <a:spcBef>
                <a:spcPts val="0"/>
              </a:spcBef>
              <a:spcAft>
                <a:spcPts val="700"/>
              </a:spcAft>
            </a:pPr>
            <a:r>
              <a:rPr sz="1300" b="1" i="0">
                <a:solidFill>
                  <a:srgbClr val="B8442E"/>
                </a:solidFill>
                <a:latin typeface="Calibri"/>
              </a:rPr>
              <a:t>Where it goes wrong:  </a:t>
            </a:r>
            <a:r>
              <a:rPr sz="1250" b="0" i="0">
                <a:solidFill>
                  <a:srgbClr val="2A3340"/>
                </a:solidFill>
                <a:latin typeface="Calibri"/>
              </a:rPr>
              <a:t>not a broken step — a missing one. Retrieval is steered by the bundled “handyman” query, and even if §2.6 / §2.7 were retrieved, generation isn’t bound to honor them. The neurosymbolic lane decomposes the customer’s words into the activities that </a:t>
            </a:r>
            <a:r>
              <a:rPr sz="1250" b="0" i="1">
                <a:solidFill>
                  <a:srgbClr val="2A3340"/>
                </a:solidFill>
                <a:latin typeface="Calibri"/>
              </a:rPr>
              <a:t>trigger</a:t>
            </a:r>
            <a:r>
              <a:rPr sz="1250" b="0" i="0">
                <a:solidFill>
                  <a:srgbClr val="2A3340"/>
                </a:solidFill>
                <a:latin typeface="Calibri"/>
              </a:rPr>
              <a:t> §2.6 and §2.7, then fires those rules deterministically.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